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Blind to the trend: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Removed from the slide on 12 Sep evening and kept here to say aloud: the eight-step flow (trend engine reads a year of bloods, flags worsening, result lands or trend flagged, has she been told, held or released, her consent for big news, per-person version, act); "if nobody tells her within three days, the agent raises a GP task and phones her landline"; and "on Eleanor's real values the engine flags her liver trend as worsening and her white cells as watch".</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777240"/>
            <a:ext cx="9144000" cy="64008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This is not one patient.</a:t>
            </a:r>
          </a:p>
        </p:txBody>
      </p:sp>
      <p:cxnSp>
        <p:nvCxnSpPr>
          <p:cNvPr id="4" name="Connector 3"/>
          <p:cNvCxnSpPr/>
          <p:nvPr/>
        </p:nvCxnSpPr>
        <p:spPr>
          <a:xfrm>
            <a:off x="731520"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12</a:t>
            </a:r>
            <a:r>
              <a:rPr sz="2000" b="1">
                <a:solidFill>
                  <a:srgbClr val="5F6D66"/>
                </a:solidFill>
                <a:latin typeface="Bricolage Grotesque"/>
              </a:rPr>
              <a:t> m</a:t>
            </a:r>
          </a:p>
        </p:txBody>
      </p:sp>
      <p:sp>
        <p:nvSpPr>
          <p:cNvPr id="6" name="TextBox 5"/>
          <p:cNvSpPr txBox="1"/>
          <p:nvPr/>
        </p:nvSpPr>
        <p:spPr>
          <a:xfrm>
            <a:off x="731520"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seen in the NHS App </a:t>
            </a:r>
            <a:r>
              <a:rPr sz="1500" b="1">
                <a:solidFill>
                  <a:srgbClr val="14261F"/>
                </a:solidFill>
                <a:latin typeface="Instrument Sans"/>
              </a:rPr>
              <a:t>every month</a:t>
            </a:r>
          </a:p>
        </p:txBody>
      </p:sp>
      <p:sp>
        <p:nvSpPr>
          <p:cNvPr id="7" name="TextBox 6"/>
          <p:cNvSpPr txBox="1"/>
          <p:nvPr/>
        </p:nvSpPr>
        <p:spPr>
          <a:xfrm>
            <a:off x="731520"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NHS App roadmap, July 2026</a:t>
            </a:r>
          </a:p>
        </p:txBody>
      </p:sp>
      <p:sp>
        <p:nvSpPr>
          <p:cNvPr id="8" name="TextBox 7"/>
          <p:cNvSpPr txBox="1"/>
          <p:nvPr/>
        </p:nvSpPr>
        <p:spPr>
          <a:xfrm>
            <a:off x="3576218"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9" name="Connector 8"/>
          <p:cNvCxnSpPr/>
          <p:nvPr/>
        </p:nvCxnSpPr>
        <p:spPr>
          <a:xfrm>
            <a:off x="4582058"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82058"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47</a:t>
            </a:r>
            <a:r>
              <a:rPr sz="2000" b="1">
                <a:solidFill>
                  <a:srgbClr val="5F6D66"/>
                </a:solidFill>
                <a:latin typeface="Bricolage Grotesque"/>
              </a:rPr>
              <a:t> %</a:t>
            </a:r>
          </a:p>
        </p:txBody>
      </p:sp>
      <p:sp>
        <p:nvSpPr>
          <p:cNvPr id="11" name="TextBox 10"/>
          <p:cNvSpPr txBox="1"/>
          <p:nvPr/>
        </p:nvSpPr>
        <p:spPr>
          <a:xfrm>
            <a:off x="4582058" y="3063240"/>
            <a:ext cx="2844698" cy="822960"/>
          </a:xfrm>
          <a:prstGeom prst="rect">
            <a:avLst/>
          </a:prstGeom>
          <a:noFill/>
        </p:spPr>
        <p:txBody>
          <a:bodyPr wrap="square" anchor="t" lIns="0" rIns="0" tIns="0" bIns="0">
            <a:spAutoFit/>
          </a:bodyPr>
          <a:lstStyle/>
          <a:p>
            <a:pPr algn="l">
              <a:lnSpc>
                <a:spcPct val="120000"/>
              </a:lnSpc>
              <a:spcAft>
                <a:spcPts val="0"/>
              </a:spcAft>
            </a:pPr>
            <a:r>
              <a:rPr sz="1500" b="1">
                <a:solidFill>
                  <a:srgbClr val="14261F"/>
                </a:solidFill>
                <a:latin typeface="Instrument Sans"/>
              </a:rPr>
              <a:t>never recorded as told</a:t>
            </a:r>
            <a:r>
              <a:rPr sz="1500" b="0">
                <a:solidFill>
                  <a:srgbClr val="5F6D66"/>
                </a:solidFill>
                <a:latin typeface="Instrument Sans"/>
              </a:rPr>
              <a:t> to the patient</a:t>
            </a:r>
          </a:p>
        </p:txBody>
      </p:sp>
      <p:sp>
        <p:nvSpPr>
          <p:cNvPr id="12" name="TextBox 11"/>
          <p:cNvSpPr txBox="1"/>
          <p:nvPr/>
        </p:nvSpPr>
        <p:spPr>
          <a:xfrm>
            <a:off x="4582058"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UK audit, 2,572 patients, 57 practices</a:t>
            </a:r>
          </a:p>
        </p:txBody>
      </p:sp>
      <p:sp>
        <p:nvSpPr>
          <p:cNvPr id="13" name="TextBox 12"/>
          <p:cNvSpPr txBox="1"/>
          <p:nvPr/>
        </p:nvSpPr>
        <p:spPr>
          <a:xfrm>
            <a:off x="7426756"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14" name="Connector 13"/>
          <p:cNvCxnSpPr/>
          <p:nvPr/>
        </p:nvCxnSpPr>
        <p:spPr>
          <a:xfrm>
            <a:off x="8432596" y="1828800"/>
            <a:ext cx="2844698" cy="0"/>
          </a:xfrm>
          <a:prstGeom prst="line">
            <a:avLst/>
          </a:prstGeom>
          <a:ln w="38100">
            <a:solidFill>
              <a:srgbClr val="6D2E5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32596"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6D2E5B"/>
                </a:solidFill>
                <a:latin typeface="Bricolage Grotesque"/>
              </a:rPr>
              <a:t>68</a:t>
            </a:r>
            <a:r>
              <a:rPr sz="2000" b="1">
                <a:solidFill>
                  <a:srgbClr val="5F6D66"/>
                </a:solidFill>
                <a:latin typeface="Bricolage Grotesque"/>
              </a:rPr>
              <a:t> m</a:t>
            </a:r>
          </a:p>
        </p:txBody>
      </p:sp>
      <p:sp>
        <p:nvSpPr>
          <p:cNvPr id="16" name="TextBox 15"/>
          <p:cNvSpPr txBox="1"/>
          <p:nvPr/>
        </p:nvSpPr>
        <p:spPr>
          <a:xfrm>
            <a:off x="8432596"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a:t>
            </a:r>
            <a:r>
              <a:rPr sz="1500" b="1">
                <a:solidFill>
                  <a:srgbClr val="14261F"/>
                </a:solidFill>
                <a:latin typeface="Instrument Sans"/>
              </a:rPr>
              <a:t>a year</a:t>
            </a:r>
            <a:r>
              <a:rPr sz="1500" b="0">
                <a:solidFill>
                  <a:srgbClr val="5F6D66"/>
                </a:solidFill>
                <a:latin typeface="Instrument Sans"/>
              </a:rPr>
              <a:t> with no evidence the patient was told</a:t>
            </a:r>
          </a:p>
        </p:txBody>
      </p:sp>
      <p:sp>
        <p:nvSpPr>
          <p:cNvPr id="17" name="TextBox 16"/>
          <p:cNvSpPr txBox="1"/>
          <p:nvPr/>
        </p:nvSpPr>
        <p:spPr>
          <a:xfrm>
            <a:off x="8432596" y="3840480"/>
            <a:ext cx="2844698"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00" b="0">
                <a:solidFill>
                  <a:srgbClr val="5F6D66"/>
                </a:solidFill>
                <a:latin typeface="Instrument Sans"/>
              </a:rPr>
              <a:t/>
            </a:r>
          </a:p>
        </p:txBody>
      </p:sp>
      <p:sp>
        <p:nvSpPr>
          <p:cNvPr id="18" name="TextBox 17"/>
          <p:cNvSpPr txBox="1"/>
          <p:nvPr/>
        </p:nvSpPr>
        <p:spPr>
          <a:xfrm>
            <a:off x="731520" y="4754880"/>
            <a:ext cx="10728655" cy="548640"/>
          </a:xfrm>
          <a:prstGeom prst="rect">
            <a:avLst/>
          </a:prstGeom>
          <a:noFill/>
        </p:spPr>
        <p:txBody>
          <a:bodyPr wrap="square" anchor="t" lIns="0" rIns="0" tIns="0" bIns="0">
            <a:spAutoFit/>
          </a:bodyPr>
          <a:lstStyle/>
          <a:p>
            <a:pPr algn="l">
              <a:lnSpc>
                <a:spcPct val="115000"/>
              </a:lnSpc>
              <a:spcAft>
                <a:spcPts val="0"/>
              </a:spcAft>
            </a:pPr>
            <a:r>
              <a:rPr sz="1600" b="0">
                <a:solidFill>
                  <a:srgbClr val="5F6D66"/>
                </a:solidFill>
                <a:latin typeface="Instrument Sans"/>
              </a:rPr>
              <a:t>And GPs spend about </a:t>
            </a:r>
            <a:r>
              <a:rPr sz="1600" b="1">
                <a:solidFill>
                  <a:srgbClr val="14261F"/>
                </a:solidFill>
                <a:latin typeface="Instrument Sans"/>
              </a:rPr>
              <a:t>35,000 hours every working day</a:t>
            </a:r>
            <a:r>
              <a:rPr sz="1600" b="0">
                <a:solidFill>
                  <a:srgbClr val="5F6D66"/>
                </a:solidFill>
                <a:latin typeface="Instrument Sans"/>
              </a:rPr>
              <a:t> managing results.  </a:t>
            </a:r>
            <a:r>
              <a:rPr sz="800" b="1">
                <a:solidFill>
                  <a:srgbClr val="7A520C"/>
                </a:solidFill>
                <a:latin typeface="Instrument Sans"/>
              </a:rPr>
              <a:t>EXTRAPOLATED</a:t>
            </a:r>
          </a:p>
        </p:txBody>
      </p:sp>
      <p:sp>
        <p:nvSpPr>
          <p:cNvPr id="19" name="TextBox 18"/>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12m × 47% × 12 months = 67.7m. 74 min per GP a day (Poon 2004) × 28,426 full-time GPs (NHS England, July 2026) = 35,059 hours. Full working and caveats in the notes.</a:t>
            </a:r>
          </a:p>
        </p:txBody>
      </p:sp>
      <p:sp>
        <p:nvSpPr>
          <p:cNvPr id="20" name="TextBox 19"/>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Blind to the trend</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Each result is read on its own. Nobody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 proof she was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record never says whether she was told. Nothing chases it.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Numbers, not meaning</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a number and says ring your GP. Her family sees nothing.</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822960"/>
            <a:ext cx="10058400" cy="1463040"/>
          </a:xfrm>
          <a:prstGeom prst="rect">
            <a:avLst/>
          </a:prstGeom>
          <a:noFill/>
        </p:spPr>
        <p:txBody>
          <a:bodyPr wrap="square" anchor="t" lIns="0" rIns="0" tIns="0" bIns="0">
            <a:spAutoFit/>
          </a:bodyPr>
          <a:lstStyle/>
          <a:p>
            <a:pPr algn="l">
              <a:lnSpc>
                <a:spcPct val="110000"/>
              </a:lnSpc>
              <a:spcAft>
                <a:spcPts val="0"/>
              </a:spcAft>
            </a:pPr>
            <a:r>
              <a:rPr sz="3000" b="1">
                <a:solidFill>
                  <a:srgbClr val="14261F"/>
                </a:solidFill>
                <a:latin typeface="Bricolage Grotesque"/>
              </a:rPr>
              <a:t>CareCircle turns every result into the right explanation and next action for every trusted person, </a:t>
            </a:r>
            <a:r>
              <a:rPr sz="3000" b="1">
                <a:solidFill>
                  <a:srgbClr val="6D2E5B"/>
                </a:solidFill>
                <a:latin typeface="Bricolage Grotesque"/>
              </a:rPr>
              <a:t>under the patient's control.</a:t>
            </a:r>
          </a:p>
        </p:txBody>
      </p:sp>
      <p:sp>
        <p:nvSpPr>
          <p:cNvPr id="4" name="Rounded Rectangle 3"/>
          <p:cNvSpPr/>
          <p:nvPr/>
        </p:nvSpPr>
        <p:spPr>
          <a:xfrm>
            <a:off x="731520" y="2834640"/>
            <a:ext cx="3362858" cy="219456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834640"/>
            <a:ext cx="314340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108960"/>
            <a:ext cx="2722778" cy="731520"/>
          </a:xfrm>
          <a:prstGeom prst="rect">
            <a:avLst/>
          </a:prstGeom>
          <a:noFill/>
        </p:spPr>
        <p:txBody>
          <a:bodyPr wrap="square" anchor="t" lIns="0" rIns="0" tIns="0" bIns="0">
            <a:spAutoFit/>
          </a:bodyPr>
          <a:lstStyle/>
          <a:p>
            <a:pPr algn="l">
              <a:lnSpc>
                <a:spcPct val="115000"/>
              </a:lnSpc>
              <a:spcAft>
                <a:spcPts val="0"/>
              </a:spcAft>
            </a:pPr>
            <a:r>
              <a:rPr sz="1700" b="1">
                <a:solidFill>
                  <a:srgbClr val="C2572F"/>
                </a:solidFill>
                <a:latin typeface="Bricolage Grotesque"/>
              </a:rPr>
              <a:t>1. Sees it coming</a:t>
            </a:r>
          </a:p>
        </p:txBody>
      </p:sp>
      <p:sp>
        <p:nvSpPr>
          <p:cNvPr id="7" name="TextBox 6"/>
          <p:cNvSpPr txBox="1"/>
          <p:nvPr/>
        </p:nvSpPr>
        <p:spPr>
          <a:xfrm>
            <a:off x="1051560" y="3840480"/>
            <a:ext cx="2722778" cy="1097280"/>
          </a:xfrm>
          <a:prstGeom prst="rect">
            <a:avLst/>
          </a:prstGeom>
          <a:noFill/>
        </p:spPr>
        <p:txBody>
          <a:bodyPr wrap="square" anchor="t" lIns="0" rIns="0" tIns="0" bIns="0">
            <a:spAutoFit/>
          </a:bodyPr>
          <a:lstStyle/>
          <a:p>
            <a:pPr algn="l">
              <a:lnSpc>
                <a:spcPct val="130000"/>
              </a:lnSpc>
              <a:spcAft>
                <a:spcPts val="0"/>
              </a:spcAft>
            </a:pPr>
            <a:r>
              <a:rPr sz="1300" b="0">
                <a:solidFill>
                  <a:srgbClr val="5F6D66"/>
                </a:solidFill>
                <a:latin typeface="Instrument Sans"/>
              </a:rPr>
              <a:t>Reads the whole trend, not one result.</a:t>
            </a:r>
          </a:p>
        </p:txBody>
      </p:sp>
      <p:sp>
        <p:nvSpPr>
          <p:cNvPr id="8" name="Rounded Rectangle 7"/>
          <p:cNvSpPr/>
          <p:nvPr/>
        </p:nvSpPr>
        <p:spPr>
          <a:xfrm>
            <a:off x="4414418" y="2834640"/>
            <a:ext cx="3362858" cy="219456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24146" y="2834640"/>
            <a:ext cx="314340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4458" y="3108960"/>
            <a:ext cx="2722778" cy="731520"/>
          </a:xfrm>
          <a:prstGeom prst="rect">
            <a:avLst/>
          </a:prstGeom>
          <a:noFill/>
        </p:spPr>
        <p:txBody>
          <a:bodyPr wrap="square" anchor="t" lIns="0" rIns="0" tIns="0" bIns="0">
            <a:spAutoFit/>
          </a:bodyPr>
          <a:lstStyle/>
          <a:p>
            <a:pPr algn="l">
              <a:lnSpc>
                <a:spcPct val="115000"/>
              </a:lnSpc>
              <a:spcAft>
                <a:spcPts val="0"/>
              </a:spcAft>
            </a:pPr>
            <a:r>
              <a:rPr sz="1700" b="1">
                <a:solidFill>
                  <a:srgbClr val="7A520C"/>
                </a:solidFill>
                <a:latin typeface="Bricolage Grotesque"/>
              </a:rPr>
              <a:t>2. Tells her first</a:t>
            </a:r>
          </a:p>
        </p:txBody>
      </p:sp>
      <p:sp>
        <p:nvSpPr>
          <p:cNvPr id="11" name="TextBox 10"/>
          <p:cNvSpPr txBox="1"/>
          <p:nvPr/>
        </p:nvSpPr>
        <p:spPr>
          <a:xfrm>
            <a:off x="4734458" y="3840480"/>
            <a:ext cx="2722778" cy="1097280"/>
          </a:xfrm>
          <a:prstGeom prst="rect">
            <a:avLst/>
          </a:prstGeom>
          <a:noFill/>
        </p:spPr>
        <p:txBody>
          <a:bodyPr wrap="square" anchor="t" lIns="0" rIns="0" tIns="0" bIns="0">
            <a:spAutoFit/>
          </a:bodyPr>
          <a:lstStyle/>
          <a:p>
            <a:pPr algn="l">
              <a:lnSpc>
                <a:spcPct val="130000"/>
              </a:lnSpc>
              <a:spcAft>
                <a:spcPts val="0"/>
              </a:spcAft>
            </a:pPr>
            <a:r>
              <a:rPr sz="1300" b="0">
                <a:solidFill>
                  <a:srgbClr val="5F6D66"/>
                </a:solidFill>
                <a:latin typeface="Instrument Sans"/>
              </a:rPr>
              <a:t>Nothing reaches the family until she has been told and says yes.</a:t>
            </a:r>
          </a:p>
        </p:txBody>
      </p:sp>
      <p:sp>
        <p:nvSpPr>
          <p:cNvPr id="12" name="Rounded Rectangle 11"/>
          <p:cNvSpPr/>
          <p:nvPr/>
        </p:nvSpPr>
        <p:spPr>
          <a:xfrm>
            <a:off x="8097316" y="2834640"/>
            <a:ext cx="3362858" cy="219456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07044" y="2834640"/>
            <a:ext cx="314340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7356" y="3108960"/>
            <a:ext cx="2722778" cy="731520"/>
          </a:xfrm>
          <a:prstGeom prst="rect">
            <a:avLst/>
          </a:prstGeom>
          <a:noFill/>
        </p:spPr>
        <p:txBody>
          <a:bodyPr wrap="square" anchor="t" lIns="0" rIns="0" tIns="0" bIns="0">
            <a:spAutoFit/>
          </a:bodyPr>
          <a:lstStyle/>
          <a:p>
            <a:pPr algn="l">
              <a:lnSpc>
                <a:spcPct val="115000"/>
              </a:lnSpc>
              <a:spcAft>
                <a:spcPts val="0"/>
              </a:spcAft>
            </a:pPr>
            <a:r>
              <a:rPr sz="1700" b="1">
                <a:solidFill>
                  <a:srgbClr val="6D2E5B"/>
                </a:solidFill>
                <a:latin typeface="Bricolage Grotesque"/>
              </a:rPr>
              <a:t>3. Tells the right people the right way</a:t>
            </a:r>
          </a:p>
        </p:txBody>
      </p:sp>
      <p:sp>
        <p:nvSpPr>
          <p:cNvPr id="15" name="TextBox 14"/>
          <p:cNvSpPr txBox="1"/>
          <p:nvPr/>
        </p:nvSpPr>
        <p:spPr>
          <a:xfrm>
            <a:off x="8417356" y="3840480"/>
            <a:ext cx="2722778" cy="1097280"/>
          </a:xfrm>
          <a:prstGeom prst="rect">
            <a:avLst/>
          </a:prstGeom>
          <a:noFill/>
        </p:spPr>
        <p:txBody>
          <a:bodyPr wrap="square" anchor="t" lIns="0" rIns="0" tIns="0" bIns="0">
            <a:spAutoFit/>
          </a:bodyPr>
          <a:lstStyle/>
          <a:p>
            <a:pPr algn="l">
              <a:lnSpc>
                <a:spcPct val="130000"/>
              </a:lnSpc>
              <a:spcAft>
                <a:spcPts val="0"/>
              </a:spcAft>
            </a:pPr>
            <a:r>
              <a:rPr sz="1300" b="0">
                <a:solidFill>
                  <a:srgbClr val="5F6D66"/>
                </a:solidFill>
                <a:latin typeface="Instrument Sans"/>
              </a:rPr>
              <a:t>Daughter gets the numbers. Husband gets the lift to arrange. Son gets a yes or no.</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