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Not seen coming: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 · FOLLOW THE ARITHMETIC</a:t>
            </a:r>
          </a:p>
        </p:txBody>
      </p:sp>
      <p:sp>
        <p:nvSpPr>
          <p:cNvPr id="3" name="TextBox 2"/>
          <p:cNvSpPr txBox="1"/>
          <p:nvPr/>
        </p:nvSpPr>
        <p:spPr>
          <a:xfrm>
            <a:off x="731520" y="777240"/>
            <a:ext cx="9144000" cy="64008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This is not one patient.</a:t>
            </a:r>
          </a:p>
        </p:txBody>
      </p:sp>
      <p:sp>
        <p:nvSpPr>
          <p:cNvPr id="4" name="TextBox 3"/>
          <p:cNvSpPr txBox="1"/>
          <p:nvPr/>
        </p:nvSpPr>
        <p:spPr>
          <a:xfrm>
            <a:off x="731520" y="1463040"/>
            <a:ext cx="7315200" cy="256032"/>
          </a:xfrm>
          <a:prstGeom prst="rect">
            <a:avLst/>
          </a:prstGeom>
          <a:noFill/>
        </p:spPr>
        <p:txBody>
          <a:bodyPr wrap="square" anchor="t" lIns="0" rIns="0" tIns="0" bIns="0">
            <a:spAutoFit/>
          </a:bodyPr>
          <a:lstStyle/>
          <a:p>
            <a:pPr algn="l">
              <a:lnSpc>
                <a:spcPct val="115000"/>
              </a:lnSpc>
              <a:spcAft>
                <a:spcPts val="0"/>
              </a:spcAft>
            </a:pPr>
            <a:r>
              <a:rPr sz="800" b="1">
                <a:solidFill>
                  <a:srgbClr val="6D2E5B"/>
                </a:solidFill>
                <a:latin typeface="Instrument Sans"/>
              </a:rPr>
              <a:t>SEEN, BUT NOT TOLD</a:t>
            </a:r>
          </a:p>
        </p:txBody>
      </p:sp>
      <p:cxnSp>
        <p:nvCxnSpPr>
          <p:cNvPr id="5" name="Connector 4"/>
          <p:cNvCxnSpPr/>
          <p:nvPr/>
        </p:nvCxnSpPr>
        <p:spPr>
          <a:xfrm>
            <a:off x="731520" y="1737360"/>
            <a:ext cx="2167813"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810512"/>
            <a:ext cx="2167813"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12</a:t>
            </a:r>
            <a:r>
              <a:rPr sz="1100" b="1">
                <a:solidFill>
                  <a:srgbClr val="5F6D66"/>
                </a:solidFill>
                <a:latin typeface="Bricolage Grotesque"/>
              </a:rPr>
              <a:t> m</a:t>
            </a:r>
          </a:p>
        </p:txBody>
      </p:sp>
      <p:sp>
        <p:nvSpPr>
          <p:cNvPr id="7" name="TextBox 6"/>
          <p:cNvSpPr txBox="1"/>
          <p:nvPr/>
        </p:nvSpPr>
        <p:spPr>
          <a:xfrm>
            <a:off x="731520" y="2304288"/>
            <a:ext cx="2167813"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test results viewed in the NHS App </a:t>
            </a:r>
            <a:r>
              <a:rPr sz="950" b="1">
                <a:solidFill>
                  <a:srgbClr val="14261F"/>
                </a:solidFill>
                <a:latin typeface="Instrument Sans"/>
              </a:rPr>
              <a:t>every month</a:t>
            </a:r>
          </a:p>
        </p:txBody>
      </p:sp>
      <p:sp>
        <p:nvSpPr>
          <p:cNvPr id="8" name="TextBox 7"/>
          <p:cNvSpPr txBox="1"/>
          <p:nvPr/>
        </p:nvSpPr>
        <p:spPr>
          <a:xfrm>
            <a:off x="731520" y="2788920"/>
            <a:ext cx="2167813"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NHS App roadmap, July 2026</a:t>
            </a:r>
          </a:p>
        </p:txBody>
      </p:sp>
      <p:sp>
        <p:nvSpPr>
          <p:cNvPr id="9" name="TextBox 8"/>
          <p:cNvSpPr txBox="1"/>
          <p:nvPr/>
        </p:nvSpPr>
        <p:spPr>
          <a:xfrm>
            <a:off x="2899333" y="190195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a:t>
            </a:r>
          </a:p>
        </p:txBody>
      </p:sp>
      <p:cxnSp>
        <p:nvCxnSpPr>
          <p:cNvPr id="10" name="Connector 9"/>
          <p:cNvCxnSpPr/>
          <p:nvPr/>
        </p:nvCxnSpPr>
        <p:spPr>
          <a:xfrm>
            <a:off x="3539413" y="1737360"/>
            <a:ext cx="2167813"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539413" y="1810512"/>
            <a:ext cx="2167813"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47</a:t>
            </a:r>
            <a:r>
              <a:rPr sz="1100" b="1">
                <a:solidFill>
                  <a:srgbClr val="5F6D66"/>
                </a:solidFill>
                <a:latin typeface="Bricolage Grotesque"/>
              </a:rPr>
              <a:t> %</a:t>
            </a:r>
          </a:p>
        </p:txBody>
      </p:sp>
      <p:sp>
        <p:nvSpPr>
          <p:cNvPr id="12" name="TextBox 11"/>
          <p:cNvSpPr txBox="1"/>
          <p:nvPr/>
        </p:nvSpPr>
        <p:spPr>
          <a:xfrm>
            <a:off x="3539413" y="2304288"/>
            <a:ext cx="2167813"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have </a:t>
            </a:r>
            <a:r>
              <a:rPr sz="950" b="1">
                <a:solidFill>
                  <a:srgbClr val="14261F"/>
                </a:solidFill>
                <a:latin typeface="Instrument Sans"/>
              </a:rPr>
              <a:t>no record of the patient being told</a:t>
            </a:r>
            <a:r>
              <a:rPr sz="950" b="0">
                <a:solidFill>
                  <a:srgbClr val="5F6D66"/>
                </a:solidFill>
                <a:latin typeface="Instrument Sans"/>
              </a:rPr>
              <a:t>. 31% even when abnormal.</a:t>
            </a:r>
          </a:p>
        </p:txBody>
      </p:sp>
      <p:sp>
        <p:nvSpPr>
          <p:cNvPr id="13" name="TextBox 12"/>
          <p:cNvSpPr txBox="1"/>
          <p:nvPr/>
        </p:nvSpPr>
        <p:spPr>
          <a:xfrm>
            <a:off x="3539413" y="2788920"/>
            <a:ext cx="2167813"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PACT audit, 2,572 patients, 57 practices</a:t>
            </a:r>
          </a:p>
        </p:txBody>
      </p:sp>
      <p:sp>
        <p:nvSpPr>
          <p:cNvPr id="14" name="TextBox 13"/>
          <p:cNvSpPr txBox="1"/>
          <p:nvPr/>
        </p:nvSpPr>
        <p:spPr>
          <a:xfrm>
            <a:off x="5707226" y="190195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a:t>
            </a:r>
          </a:p>
        </p:txBody>
      </p:sp>
      <p:cxnSp>
        <p:nvCxnSpPr>
          <p:cNvPr id="15" name="Connector 14"/>
          <p:cNvCxnSpPr/>
          <p:nvPr/>
        </p:nvCxnSpPr>
        <p:spPr>
          <a:xfrm>
            <a:off x="6347306" y="1737360"/>
            <a:ext cx="2167813"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47306" y="1810512"/>
            <a:ext cx="2167813"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5.6</a:t>
            </a:r>
            <a:r>
              <a:rPr sz="1100" b="1">
                <a:solidFill>
                  <a:srgbClr val="5F6D66"/>
                </a:solidFill>
                <a:latin typeface="Bricolage Grotesque"/>
              </a:rPr>
              <a:t> m</a:t>
            </a:r>
          </a:p>
        </p:txBody>
      </p:sp>
      <p:sp>
        <p:nvSpPr>
          <p:cNvPr id="17" name="TextBox 16"/>
          <p:cNvSpPr txBox="1"/>
          <p:nvPr/>
        </p:nvSpPr>
        <p:spPr>
          <a:xfrm>
            <a:off x="6347306" y="2304288"/>
            <a:ext cx="2167813"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results a month with </a:t>
            </a:r>
            <a:r>
              <a:rPr sz="950" b="1">
                <a:solidFill>
                  <a:srgbClr val="14261F"/>
                </a:solidFill>
                <a:latin typeface="Instrument Sans"/>
              </a:rPr>
              <a:t>no evidence anyone told the patient</a:t>
            </a:r>
          </a:p>
        </p:txBody>
      </p:sp>
      <p:sp>
        <p:nvSpPr>
          <p:cNvPr id="18" name="TextBox 17"/>
          <p:cNvSpPr txBox="1"/>
          <p:nvPr/>
        </p:nvSpPr>
        <p:spPr>
          <a:xfrm>
            <a:off x="6347306" y="2788920"/>
            <a:ext cx="2167813" cy="274320"/>
          </a:xfrm>
          <a:prstGeom prst="rect">
            <a:avLst/>
          </a:prstGeom>
          <a:noFill/>
        </p:spPr>
        <p:txBody>
          <a:bodyPr wrap="square" anchor="t" lIns="0" rIns="0" tIns="0" bIns="0">
            <a:spAutoFit/>
          </a:bodyPr>
          <a:lstStyle/>
          <a:p>
            <a:pPr algn="l">
              <a:lnSpc>
                <a:spcPct val="115000"/>
              </a:lnSpc>
              <a:spcAft>
                <a:spcPts val="0"/>
              </a:spcAft>
            </a:pPr>
            <a:r>
              <a:rPr sz="700" b="1">
                <a:solidFill>
                  <a:srgbClr val="7A520C"/>
                </a:solidFill>
                <a:latin typeface="Instrument Sans"/>
              </a:rPr>
              <a:t>EXTRAPOLATED  </a:t>
            </a:r>
            <a:r>
              <a:rPr sz="750" b="0">
                <a:solidFill>
                  <a:srgbClr val="5F6D66"/>
                </a:solidFill>
                <a:latin typeface="Instrument Sans"/>
              </a:rPr>
              <a:t/>
            </a:r>
          </a:p>
        </p:txBody>
      </p:sp>
      <p:sp>
        <p:nvSpPr>
          <p:cNvPr id="19" name="TextBox 18"/>
          <p:cNvSpPr txBox="1"/>
          <p:nvPr/>
        </p:nvSpPr>
        <p:spPr>
          <a:xfrm>
            <a:off x="8515119" y="190195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 12</a:t>
            </a:r>
          </a:p>
        </p:txBody>
      </p:sp>
      <p:cxnSp>
        <p:nvCxnSpPr>
          <p:cNvPr id="20" name="Connector 19"/>
          <p:cNvCxnSpPr/>
          <p:nvPr/>
        </p:nvCxnSpPr>
        <p:spPr>
          <a:xfrm>
            <a:off x="9155199" y="1737360"/>
            <a:ext cx="2167813" cy="0"/>
          </a:xfrm>
          <a:prstGeom prst="line">
            <a:avLst/>
          </a:prstGeom>
          <a:ln w="28575">
            <a:solidFill>
              <a:srgbClr val="6D2E5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155199" y="1810512"/>
            <a:ext cx="2167813" cy="502920"/>
          </a:xfrm>
          <a:prstGeom prst="rect">
            <a:avLst/>
          </a:prstGeom>
          <a:noFill/>
        </p:spPr>
        <p:txBody>
          <a:bodyPr wrap="square" anchor="t" lIns="0" rIns="0" tIns="0" bIns="0">
            <a:spAutoFit/>
          </a:bodyPr>
          <a:lstStyle/>
          <a:p>
            <a:pPr algn="l">
              <a:lnSpc>
                <a:spcPct val="115000"/>
              </a:lnSpc>
              <a:spcAft>
                <a:spcPts val="0"/>
              </a:spcAft>
            </a:pPr>
            <a:r>
              <a:rPr sz="2600" b="1">
                <a:solidFill>
                  <a:srgbClr val="6D2E5B"/>
                </a:solidFill>
                <a:latin typeface="Bricolage Grotesque"/>
              </a:rPr>
              <a:t>68</a:t>
            </a:r>
            <a:r>
              <a:rPr sz="1100" b="1">
                <a:solidFill>
                  <a:srgbClr val="5F6D66"/>
                </a:solidFill>
                <a:latin typeface="Bricolage Grotesque"/>
              </a:rPr>
              <a:t> m</a:t>
            </a:r>
          </a:p>
        </p:txBody>
      </p:sp>
      <p:sp>
        <p:nvSpPr>
          <p:cNvPr id="22" name="TextBox 21"/>
          <p:cNvSpPr txBox="1"/>
          <p:nvPr/>
        </p:nvSpPr>
        <p:spPr>
          <a:xfrm>
            <a:off x="9155199" y="2304288"/>
            <a:ext cx="2167813"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a year. </a:t>
            </a:r>
            <a:r>
              <a:rPr sz="950" b="1">
                <a:solidFill>
                  <a:srgbClr val="14261F"/>
                </a:solidFill>
                <a:latin typeface="Instrument Sans"/>
              </a:rPr>
              <a:t>Every one of them is somebody's Eleanor.</a:t>
            </a:r>
          </a:p>
        </p:txBody>
      </p:sp>
      <p:sp>
        <p:nvSpPr>
          <p:cNvPr id="23" name="TextBox 22"/>
          <p:cNvSpPr txBox="1"/>
          <p:nvPr/>
        </p:nvSpPr>
        <p:spPr>
          <a:xfrm>
            <a:off x="9155199" y="2788920"/>
            <a:ext cx="2167813" cy="274320"/>
          </a:xfrm>
          <a:prstGeom prst="rect">
            <a:avLst/>
          </a:prstGeom>
          <a:noFill/>
        </p:spPr>
        <p:txBody>
          <a:bodyPr wrap="square" anchor="t" lIns="0" rIns="0" tIns="0" bIns="0">
            <a:spAutoFit/>
          </a:bodyPr>
          <a:lstStyle/>
          <a:p>
            <a:pPr algn="l">
              <a:lnSpc>
                <a:spcPct val="115000"/>
              </a:lnSpc>
              <a:spcAft>
                <a:spcPts val="0"/>
              </a:spcAft>
            </a:pPr>
            <a:r>
              <a:rPr sz="700" b="1">
                <a:solidFill>
                  <a:srgbClr val="7A520C"/>
                </a:solidFill>
                <a:latin typeface="Instrument Sans"/>
              </a:rPr>
              <a:t>EXTRAPOLATED  </a:t>
            </a:r>
            <a:r>
              <a:rPr sz="750" b="0">
                <a:solidFill>
                  <a:srgbClr val="5F6D66"/>
                </a:solidFill>
                <a:latin typeface="Instrument Sans"/>
              </a:rPr>
              <a:t/>
            </a:r>
          </a:p>
        </p:txBody>
      </p:sp>
      <p:sp>
        <p:nvSpPr>
          <p:cNvPr id="24" name="TextBox 23"/>
          <p:cNvSpPr txBox="1"/>
          <p:nvPr/>
        </p:nvSpPr>
        <p:spPr>
          <a:xfrm>
            <a:off x="731520" y="3154680"/>
            <a:ext cx="7315200" cy="256032"/>
          </a:xfrm>
          <a:prstGeom prst="rect">
            <a:avLst/>
          </a:prstGeom>
          <a:noFill/>
        </p:spPr>
        <p:txBody>
          <a:bodyPr wrap="square" anchor="t" lIns="0" rIns="0" tIns="0" bIns="0">
            <a:spAutoFit/>
          </a:bodyPr>
          <a:lstStyle/>
          <a:p>
            <a:pPr algn="l">
              <a:lnSpc>
                <a:spcPct val="115000"/>
              </a:lnSpc>
              <a:spcAft>
                <a:spcPts val="0"/>
              </a:spcAft>
            </a:pPr>
            <a:r>
              <a:rPr sz="800" b="1">
                <a:solidFill>
                  <a:srgbClr val="6D2E5B"/>
                </a:solidFill>
                <a:latin typeface="Instrument Sans"/>
              </a:rPr>
              <a:t>WHAT IT COSTS THE PRACTICE</a:t>
            </a:r>
          </a:p>
        </p:txBody>
      </p:sp>
      <p:cxnSp>
        <p:nvCxnSpPr>
          <p:cNvPr id="25" name="Connector 24"/>
          <p:cNvCxnSpPr/>
          <p:nvPr/>
        </p:nvCxnSpPr>
        <p:spPr>
          <a:xfrm>
            <a:off x="731520" y="3429000"/>
            <a:ext cx="3103778"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3502152"/>
            <a:ext cx="3103778"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74</a:t>
            </a:r>
            <a:r>
              <a:rPr sz="1100" b="1">
                <a:solidFill>
                  <a:srgbClr val="5F6D66"/>
                </a:solidFill>
                <a:latin typeface="Bricolage Grotesque"/>
              </a:rPr>
              <a:t> min</a:t>
            </a:r>
          </a:p>
        </p:txBody>
      </p:sp>
      <p:sp>
        <p:nvSpPr>
          <p:cNvPr id="27" name="TextBox 26"/>
          <p:cNvSpPr txBox="1"/>
          <p:nvPr/>
        </p:nvSpPr>
        <p:spPr>
          <a:xfrm>
            <a:off x="731520" y="3995928"/>
            <a:ext cx="3103778"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a day </a:t>
            </a:r>
            <a:r>
              <a:rPr sz="950" b="1">
                <a:solidFill>
                  <a:srgbClr val="14261F"/>
                </a:solidFill>
                <a:latin typeface="Instrument Sans"/>
              </a:rPr>
              <a:t>per GP</a:t>
            </a:r>
            <a:r>
              <a:rPr sz="950" b="0">
                <a:solidFill>
                  <a:srgbClr val="5F6D66"/>
                </a:solidFill>
                <a:latin typeface="Instrument Sans"/>
              </a:rPr>
              <a:t> managing results</a:t>
            </a:r>
          </a:p>
        </p:txBody>
      </p:sp>
      <p:sp>
        <p:nvSpPr>
          <p:cNvPr id="28" name="TextBox 27"/>
          <p:cNvSpPr txBox="1"/>
          <p:nvPr/>
        </p:nvSpPr>
        <p:spPr>
          <a:xfrm>
            <a:off x="731520" y="4480560"/>
            <a:ext cx="3103778"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Poon et al. 2004, 262 physicians</a:t>
            </a:r>
          </a:p>
        </p:txBody>
      </p:sp>
      <p:sp>
        <p:nvSpPr>
          <p:cNvPr id="29" name="TextBox 28"/>
          <p:cNvSpPr txBox="1"/>
          <p:nvPr/>
        </p:nvSpPr>
        <p:spPr>
          <a:xfrm>
            <a:off x="3835298" y="359359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a:t>
            </a:r>
          </a:p>
        </p:txBody>
      </p:sp>
      <p:cxnSp>
        <p:nvCxnSpPr>
          <p:cNvPr id="30" name="Connector 29"/>
          <p:cNvCxnSpPr/>
          <p:nvPr/>
        </p:nvCxnSpPr>
        <p:spPr>
          <a:xfrm>
            <a:off x="4475378" y="3429000"/>
            <a:ext cx="3103778"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475378" y="3502152"/>
            <a:ext cx="3103778"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28,426</a:t>
            </a:r>
            <a:r>
              <a:rPr sz="1100" b="1">
                <a:solidFill>
                  <a:srgbClr val="5F6D66"/>
                </a:solidFill>
                <a:latin typeface="Bricolage Grotesque"/>
              </a:rPr>
              <a:t/>
            </a:r>
          </a:p>
        </p:txBody>
      </p:sp>
      <p:sp>
        <p:nvSpPr>
          <p:cNvPr id="32" name="TextBox 31"/>
          <p:cNvSpPr txBox="1"/>
          <p:nvPr/>
        </p:nvSpPr>
        <p:spPr>
          <a:xfrm>
            <a:off x="4475378" y="3995928"/>
            <a:ext cx="3103778" cy="502920"/>
          </a:xfrm>
          <a:prstGeom prst="rect">
            <a:avLst/>
          </a:prstGeom>
          <a:noFill/>
        </p:spPr>
        <p:txBody>
          <a:bodyPr wrap="square" anchor="t" lIns="0" rIns="0" tIns="0" bIns="0">
            <a:spAutoFit/>
          </a:bodyPr>
          <a:lstStyle/>
          <a:p>
            <a:pPr algn="l">
              <a:lnSpc>
                <a:spcPct val="115000"/>
              </a:lnSpc>
              <a:spcAft>
                <a:spcPts val="0"/>
              </a:spcAft>
            </a:pPr>
            <a:r>
              <a:rPr sz="950" b="1">
                <a:solidFill>
                  <a:srgbClr val="14261F"/>
                </a:solidFill>
                <a:latin typeface="Instrument Sans"/>
              </a:rPr>
              <a:t>full-time GPs</a:t>
            </a:r>
            <a:r>
              <a:rPr sz="950" b="0">
                <a:solidFill>
                  <a:srgbClr val="5F6D66"/>
                </a:solidFill>
                <a:latin typeface="Instrument Sans"/>
              </a:rPr>
              <a:t> in England</a:t>
            </a:r>
          </a:p>
        </p:txBody>
      </p:sp>
      <p:sp>
        <p:nvSpPr>
          <p:cNvPr id="33" name="TextBox 32"/>
          <p:cNvSpPr txBox="1"/>
          <p:nvPr/>
        </p:nvSpPr>
        <p:spPr>
          <a:xfrm>
            <a:off x="4475378" y="4480560"/>
            <a:ext cx="3103778"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NHS England GP Workforce, July 2026</a:t>
            </a:r>
          </a:p>
        </p:txBody>
      </p:sp>
      <p:sp>
        <p:nvSpPr>
          <p:cNvPr id="34" name="TextBox 33"/>
          <p:cNvSpPr txBox="1"/>
          <p:nvPr/>
        </p:nvSpPr>
        <p:spPr>
          <a:xfrm>
            <a:off x="7579156" y="359359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a:t>
            </a:r>
          </a:p>
        </p:txBody>
      </p:sp>
      <p:cxnSp>
        <p:nvCxnSpPr>
          <p:cNvPr id="35" name="Connector 34"/>
          <p:cNvCxnSpPr/>
          <p:nvPr/>
        </p:nvCxnSpPr>
        <p:spPr>
          <a:xfrm>
            <a:off x="8219236" y="3429000"/>
            <a:ext cx="3103778" cy="0"/>
          </a:xfrm>
          <a:prstGeom prst="line">
            <a:avLst/>
          </a:prstGeom>
          <a:ln w="28575">
            <a:solidFill>
              <a:srgbClr val="6D2E5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219236" y="3502152"/>
            <a:ext cx="3103778" cy="502920"/>
          </a:xfrm>
          <a:prstGeom prst="rect">
            <a:avLst/>
          </a:prstGeom>
          <a:noFill/>
        </p:spPr>
        <p:txBody>
          <a:bodyPr wrap="square" anchor="t" lIns="0" rIns="0" tIns="0" bIns="0">
            <a:spAutoFit/>
          </a:bodyPr>
          <a:lstStyle/>
          <a:p>
            <a:pPr algn="l">
              <a:lnSpc>
                <a:spcPct val="115000"/>
              </a:lnSpc>
              <a:spcAft>
                <a:spcPts val="0"/>
              </a:spcAft>
            </a:pPr>
            <a:r>
              <a:rPr sz="2600" b="1">
                <a:solidFill>
                  <a:srgbClr val="6D2E5B"/>
                </a:solidFill>
                <a:latin typeface="Bricolage Grotesque"/>
              </a:rPr>
              <a:t>35,000</a:t>
            </a:r>
            <a:r>
              <a:rPr sz="1100" b="1">
                <a:solidFill>
                  <a:srgbClr val="5F6D66"/>
                </a:solidFill>
                <a:latin typeface="Bricolage Grotesque"/>
              </a:rPr>
              <a:t/>
            </a:r>
          </a:p>
        </p:txBody>
      </p:sp>
      <p:sp>
        <p:nvSpPr>
          <p:cNvPr id="37" name="TextBox 36"/>
          <p:cNvSpPr txBox="1"/>
          <p:nvPr/>
        </p:nvSpPr>
        <p:spPr>
          <a:xfrm>
            <a:off x="8219236" y="3995928"/>
            <a:ext cx="3103778" cy="502920"/>
          </a:xfrm>
          <a:prstGeom prst="rect">
            <a:avLst/>
          </a:prstGeom>
          <a:noFill/>
        </p:spPr>
        <p:txBody>
          <a:bodyPr wrap="square" anchor="t" lIns="0" rIns="0" tIns="0" bIns="0">
            <a:spAutoFit/>
          </a:bodyPr>
          <a:lstStyle/>
          <a:p>
            <a:pPr algn="l">
              <a:lnSpc>
                <a:spcPct val="115000"/>
              </a:lnSpc>
              <a:spcAft>
                <a:spcPts val="0"/>
              </a:spcAft>
            </a:pPr>
            <a:r>
              <a:rPr sz="950" b="1">
                <a:solidFill>
                  <a:srgbClr val="14261F"/>
                </a:solidFill>
                <a:latin typeface="Instrument Sans"/>
              </a:rPr>
              <a:t>GP-hours every working day</a:t>
            </a:r>
            <a:r>
              <a:rPr sz="950" b="0">
                <a:solidFill>
                  <a:srgbClr val="5F6D66"/>
                </a:solidFill>
                <a:latin typeface="Instrument Sans"/>
              </a:rPr>
              <a:t> on results alone</a:t>
            </a:r>
          </a:p>
        </p:txBody>
      </p:sp>
      <p:sp>
        <p:nvSpPr>
          <p:cNvPr id="38" name="TextBox 37"/>
          <p:cNvSpPr txBox="1"/>
          <p:nvPr/>
        </p:nvSpPr>
        <p:spPr>
          <a:xfrm>
            <a:off x="8219236" y="4480560"/>
            <a:ext cx="3103778" cy="274320"/>
          </a:xfrm>
          <a:prstGeom prst="rect">
            <a:avLst/>
          </a:prstGeom>
          <a:noFill/>
        </p:spPr>
        <p:txBody>
          <a:bodyPr wrap="square" anchor="t" lIns="0" rIns="0" tIns="0" bIns="0">
            <a:spAutoFit/>
          </a:bodyPr>
          <a:lstStyle/>
          <a:p>
            <a:pPr algn="l">
              <a:lnSpc>
                <a:spcPct val="115000"/>
              </a:lnSpc>
              <a:spcAft>
                <a:spcPts val="0"/>
              </a:spcAft>
            </a:pPr>
            <a:r>
              <a:rPr sz="700" b="1">
                <a:solidFill>
                  <a:srgbClr val="7A520C"/>
                </a:solidFill>
                <a:latin typeface="Instrument Sans"/>
              </a:rPr>
              <a:t>EXTRAPOLATED  </a:t>
            </a:r>
            <a:r>
              <a:rPr sz="750" b="0">
                <a:solidFill>
                  <a:srgbClr val="5F6D66"/>
                </a:solidFill>
                <a:latin typeface="Instrument Sans"/>
              </a:rPr>
              <a:t/>
            </a:r>
          </a:p>
        </p:txBody>
      </p:sp>
      <p:sp>
        <p:nvSpPr>
          <p:cNvPr id="39" name="TextBox 38"/>
          <p:cNvSpPr txBox="1"/>
          <p:nvPr/>
        </p:nvSpPr>
        <p:spPr>
          <a:xfrm>
            <a:off x="731520" y="4846320"/>
            <a:ext cx="7315200" cy="256032"/>
          </a:xfrm>
          <a:prstGeom prst="rect">
            <a:avLst/>
          </a:prstGeom>
          <a:noFill/>
        </p:spPr>
        <p:txBody>
          <a:bodyPr wrap="square" anchor="t" lIns="0" rIns="0" tIns="0" bIns="0">
            <a:spAutoFit/>
          </a:bodyPr>
          <a:lstStyle/>
          <a:p>
            <a:pPr algn="l">
              <a:lnSpc>
                <a:spcPct val="115000"/>
              </a:lnSpc>
              <a:spcAft>
                <a:spcPts val="0"/>
              </a:spcAft>
            </a:pPr>
            <a:r>
              <a:rPr sz="800" b="1">
                <a:solidFill>
                  <a:srgbClr val="6D2E5B"/>
                </a:solidFill>
                <a:latin typeface="Instrument Sans"/>
              </a:rPr>
              <a:t>AND WHEN ONE SLIPS</a:t>
            </a:r>
          </a:p>
        </p:txBody>
      </p:sp>
      <p:cxnSp>
        <p:nvCxnSpPr>
          <p:cNvPr id="40" name="Connector 39"/>
          <p:cNvCxnSpPr/>
          <p:nvPr/>
        </p:nvCxnSpPr>
        <p:spPr>
          <a:xfrm>
            <a:off x="731520" y="5120640"/>
            <a:ext cx="3103778"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31520" y="5193792"/>
            <a:ext cx="3103778"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41</a:t>
            </a:r>
            <a:r>
              <a:rPr sz="1100" b="1">
                <a:solidFill>
                  <a:srgbClr val="5F6D66"/>
                </a:solidFill>
                <a:latin typeface="Bricolage Grotesque"/>
              </a:rPr>
              <a:t/>
            </a:r>
          </a:p>
        </p:txBody>
      </p:sp>
      <p:sp>
        <p:nvSpPr>
          <p:cNvPr id="42" name="TextBox 41"/>
          <p:cNvSpPr txBox="1"/>
          <p:nvPr/>
        </p:nvSpPr>
        <p:spPr>
          <a:xfrm>
            <a:off x="731520" y="5687568"/>
            <a:ext cx="3103778" cy="502920"/>
          </a:xfrm>
          <a:prstGeom prst="rect">
            <a:avLst/>
          </a:prstGeom>
          <a:noFill/>
        </p:spPr>
        <p:txBody>
          <a:bodyPr wrap="square" anchor="t" lIns="0" rIns="0" tIns="0" bIns="0">
            <a:spAutoFit/>
          </a:bodyPr>
          <a:lstStyle/>
          <a:p>
            <a:pPr algn="l">
              <a:lnSpc>
                <a:spcPct val="115000"/>
              </a:lnSpc>
              <a:spcAft>
                <a:spcPts val="0"/>
              </a:spcAft>
            </a:pPr>
            <a:r>
              <a:rPr sz="950" b="1">
                <a:solidFill>
                  <a:srgbClr val="14261F"/>
                </a:solidFill>
                <a:latin typeface="Instrument Sans"/>
              </a:rPr>
              <a:t>serious incidents in 13 months</a:t>
            </a:r>
            <a:r>
              <a:rPr sz="950" b="0">
                <a:solidFill>
                  <a:srgbClr val="5F6D66"/>
                </a:solidFill>
                <a:latin typeface="Instrument Sans"/>
              </a:rPr>
              <a:t> from uncommunicated results, one a 45 mm lung mass</a:t>
            </a:r>
          </a:p>
        </p:txBody>
      </p:sp>
      <p:sp>
        <p:nvSpPr>
          <p:cNvPr id="43" name="TextBox 42"/>
          <p:cNvSpPr txBox="1"/>
          <p:nvPr/>
        </p:nvSpPr>
        <p:spPr>
          <a:xfrm>
            <a:off x="731520" y="6172200"/>
            <a:ext cx="3103778"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HSIB, 2019</a:t>
            </a:r>
          </a:p>
        </p:txBody>
      </p:sp>
      <p:sp>
        <p:nvSpPr>
          <p:cNvPr id="44" name="TextBox 43"/>
          <p:cNvSpPr txBox="1"/>
          <p:nvPr/>
        </p:nvSpPr>
        <p:spPr>
          <a:xfrm>
            <a:off x="3835298" y="528523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
            </a:r>
          </a:p>
        </p:txBody>
      </p:sp>
      <p:cxnSp>
        <p:nvCxnSpPr>
          <p:cNvPr id="45" name="Connector 44"/>
          <p:cNvCxnSpPr/>
          <p:nvPr/>
        </p:nvCxnSpPr>
        <p:spPr>
          <a:xfrm>
            <a:off x="4475378" y="5120640"/>
            <a:ext cx="3103778"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475378" y="5193792"/>
            <a:ext cx="3103778"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1</a:t>
            </a:r>
            <a:r>
              <a:rPr sz="1100" b="1">
                <a:solidFill>
                  <a:srgbClr val="5F6D66"/>
                </a:solidFill>
                <a:latin typeface="Bricolage Grotesque"/>
              </a:rPr>
              <a:t> reading</a:t>
            </a:r>
          </a:p>
        </p:txBody>
      </p:sp>
      <p:sp>
        <p:nvSpPr>
          <p:cNvPr id="47" name="TextBox 46"/>
          <p:cNvSpPr txBox="1"/>
          <p:nvPr/>
        </p:nvSpPr>
        <p:spPr>
          <a:xfrm>
            <a:off x="4475378" y="5687568"/>
            <a:ext cx="3103778"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cannot show decline. </a:t>
            </a:r>
            <a:r>
              <a:rPr sz="950" b="1">
                <a:solidFill>
                  <a:srgbClr val="14261F"/>
                </a:solidFill>
                <a:latin typeface="Instrument Sans"/>
              </a:rPr>
              <a:t>The trajectory can</a:t>
            </a:r>
            <a:r>
              <a:rPr sz="950" b="0">
                <a:solidFill>
                  <a:srgbClr val="5F6D66"/>
                </a:solidFill>
                <a:latin typeface="Instrument Sans"/>
              </a:rPr>
              <a:t>, and every GP system already holds it.</a:t>
            </a:r>
          </a:p>
        </p:txBody>
      </p:sp>
      <p:sp>
        <p:nvSpPr>
          <p:cNvPr id="48" name="TextBox 47"/>
          <p:cNvSpPr txBox="1"/>
          <p:nvPr/>
        </p:nvSpPr>
        <p:spPr>
          <a:xfrm>
            <a:off x="4475378" y="6172200"/>
            <a:ext cx="3103778"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Stow et al., BMC Medicine 2018</a:t>
            </a:r>
          </a:p>
        </p:txBody>
      </p:sp>
      <p:sp>
        <p:nvSpPr>
          <p:cNvPr id="49" name="TextBox 48"/>
          <p:cNvSpPr txBox="1"/>
          <p:nvPr/>
        </p:nvSpPr>
        <p:spPr>
          <a:xfrm>
            <a:off x="7579156" y="5285232"/>
            <a:ext cx="640080" cy="457200"/>
          </a:xfrm>
          <a:prstGeom prst="rect">
            <a:avLst/>
          </a:prstGeom>
          <a:noFill/>
        </p:spPr>
        <p:txBody>
          <a:bodyPr wrap="square" anchor="t" lIns="0" rIns="0" tIns="0" bIns="0">
            <a:spAutoFit/>
          </a:bodyPr>
          <a:lstStyle/>
          <a:p>
            <a:pPr algn="ctr">
              <a:lnSpc>
                <a:spcPct val="115000"/>
              </a:lnSpc>
              <a:spcAft>
                <a:spcPts val="0"/>
              </a:spcAft>
            </a:pPr>
            <a:r>
              <a:rPr sz="1600" b="1">
                <a:solidFill>
                  <a:srgbClr val="6D2E5B"/>
                </a:solidFill>
                <a:latin typeface="Bricolage Grotesque"/>
              </a:rPr>
              <a:t/>
            </a:r>
          </a:p>
        </p:txBody>
      </p:sp>
      <p:cxnSp>
        <p:nvCxnSpPr>
          <p:cNvPr id="50" name="Connector 49"/>
          <p:cNvCxnSpPr/>
          <p:nvPr/>
        </p:nvCxnSpPr>
        <p:spPr>
          <a:xfrm>
            <a:off x="8219236" y="5120640"/>
            <a:ext cx="3103778" cy="0"/>
          </a:xfrm>
          <a:prstGeom prst="line">
            <a:avLst/>
          </a:prstGeom>
          <a:ln w="28575">
            <a:solidFill>
              <a:srgbClr val="D8DED9"/>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219236" y="5193792"/>
            <a:ext cx="3103778" cy="502920"/>
          </a:xfrm>
          <a:prstGeom prst="rect">
            <a:avLst/>
          </a:prstGeom>
          <a:noFill/>
        </p:spPr>
        <p:txBody>
          <a:bodyPr wrap="square" anchor="t" lIns="0" rIns="0" tIns="0" bIns="0">
            <a:spAutoFit/>
          </a:bodyPr>
          <a:lstStyle/>
          <a:p>
            <a:pPr algn="l">
              <a:lnSpc>
                <a:spcPct val="115000"/>
              </a:lnSpc>
              <a:spcAft>
                <a:spcPts val="0"/>
              </a:spcAft>
            </a:pPr>
            <a:r>
              <a:rPr sz="2600" b="1">
                <a:solidFill>
                  <a:srgbClr val="14261F"/>
                </a:solidFill>
                <a:latin typeface="Bricolage Grotesque"/>
              </a:rPr>
              <a:t>0.4</a:t>
            </a:r>
            <a:r>
              <a:rPr sz="1100" b="1">
                <a:solidFill>
                  <a:srgbClr val="5F6D66"/>
                </a:solidFill>
                <a:latin typeface="Bricolage Grotesque"/>
              </a:rPr>
              <a:t> %</a:t>
            </a:r>
          </a:p>
        </p:txBody>
      </p:sp>
      <p:sp>
        <p:nvSpPr>
          <p:cNvPr id="52" name="TextBox 51"/>
          <p:cNvSpPr txBox="1"/>
          <p:nvPr/>
        </p:nvSpPr>
        <p:spPr>
          <a:xfrm>
            <a:off x="8219236" y="5687568"/>
            <a:ext cx="3103778" cy="50292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of portal users have shared access for a carer. </a:t>
            </a:r>
            <a:r>
              <a:rPr sz="950" b="1">
                <a:solidFill>
                  <a:srgbClr val="14261F"/>
                </a:solidFill>
                <a:latin typeface="Instrument Sans"/>
              </a:rPr>
              <a:t>5 million carers</a:t>
            </a:r>
            <a:r>
              <a:rPr sz="950" b="0">
                <a:solidFill>
                  <a:srgbClr val="5F6D66"/>
                </a:solidFill>
                <a:latin typeface="Instrument Sans"/>
              </a:rPr>
              <a:t> in England and Wales.</a:t>
            </a:r>
          </a:p>
        </p:txBody>
      </p:sp>
      <p:sp>
        <p:nvSpPr>
          <p:cNvPr id="53" name="TextBox 52"/>
          <p:cNvSpPr txBox="1"/>
          <p:nvPr/>
        </p:nvSpPr>
        <p:spPr>
          <a:xfrm>
            <a:off x="8219236" y="6172200"/>
            <a:ext cx="3103778" cy="274320"/>
          </a:xfrm>
          <a:prstGeom prst="rect">
            <a:avLst/>
          </a:prstGeom>
          <a:noFill/>
        </p:spPr>
        <p:txBody>
          <a:bodyPr wrap="square" anchor="t" lIns="0" rIns="0" tIns="0" bIns="0">
            <a:spAutoFit/>
          </a:bodyPr>
          <a:lstStyle/>
          <a:p>
            <a:pPr algn="l">
              <a:lnSpc>
                <a:spcPct val="115000"/>
              </a:lnSpc>
              <a:spcAft>
                <a:spcPts val="0"/>
              </a:spcAft>
            </a:pPr>
            <a:r>
              <a:rPr sz="750" b="0">
                <a:solidFill>
                  <a:srgbClr val="5F6D66"/>
                </a:solidFill>
                <a:latin typeface="Instrument Sans"/>
              </a:rPr>
              <a:t>Wolff 2016 · Census 2021</a:t>
            </a:r>
          </a:p>
        </p:txBody>
      </p:sp>
      <p:sp>
        <p:nvSpPr>
          <p:cNvPr id="54" name="TextBox 53"/>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Working for every extrapolated figure is in the speaker notes. 12m × 47% = 5.6m; × 12 = 67.7m. 74 min × 28,426 ÷ 60 = 35,059 hours.</a:t>
            </a:r>
          </a:p>
        </p:txBody>
      </p:sp>
      <p:sp>
        <p:nvSpPr>
          <p:cNvPr id="55" name="TextBox 54"/>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seen coming</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Results are reviewed one at a time. No one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No reliable “patient informed” state exists in the record, and nothing routes a result to the people who need to act.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understood, locked out</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the number and says ring your GP; only 51% of adults can find the out-of-range value. Proxy access hands a person the whole record after a practice-led setup, and almost nobody has it.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731520"/>
            <a:ext cx="10789920" cy="1280160"/>
          </a:xfrm>
          <a:prstGeom prst="rect">
            <a:avLst/>
          </a:prstGeom>
          <a:noFill/>
        </p:spPr>
        <p:txBody>
          <a:bodyPr wrap="square" anchor="t" lIns="0" rIns="0" tIns="0" bIns="0">
            <a:spAutoFit/>
          </a:bodyPr>
          <a:lstStyle/>
          <a:p>
            <a:pPr algn="l">
              <a:lnSpc>
                <a:spcPct val="105000"/>
              </a:lnSpc>
              <a:spcAft>
                <a:spcPts val="0"/>
              </a:spcAft>
            </a:pPr>
            <a:r>
              <a:rPr sz="2200" b="1">
                <a:solidFill>
                  <a:srgbClr val="14261F"/>
                </a:solidFill>
                <a:latin typeface="Bricolage Grotesque"/>
              </a:rPr>
              <a:t>CareCircle turns every result into the right explanation and next action for every trusted person, </a:t>
            </a:r>
            <a:r>
              <a:rPr sz="2200" b="1">
                <a:solidFill>
                  <a:srgbClr val="6D2E5B"/>
                </a:solidFill>
                <a:latin typeface="Bricolage Grotesque"/>
              </a:rPr>
              <a:t>under the patient's control.</a:t>
            </a:r>
          </a:p>
        </p:txBody>
      </p:sp>
      <p:sp>
        <p:nvSpPr>
          <p:cNvPr id="4" name="Rounded Rectangle 3"/>
          <p:cNvSpPr/>
          <p:nvPr/>
        </p:nvSpPr>
        <p:spPr>
          <a:xfrm>
            <a:off x="731520"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148840"/>
            <a:ext cx="320436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C2572F"/>
                </a:solidFill>
                <a:latin typeface="Bricolage Grotesque"/>
              </a:rPr>
              <a:t>1. Sees it coming</a:t>
            </a:r>
          </a:p>
        </p:txBody>
      </p:sp>
      <p:sp>
        <p:nvSpPr>
          <p:cNvPr id="7" name="TextBox 6"/>
          <p:cNvSpPr txBox="1"/>
          <p:nvPr/>
        </p:nvSpPr>
        <p:spPr>
          <a:xfrm>
            <a:off x="960120"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Proactive, longitudinal. A year of bloods and a week of watch data become improving, watch, worsening, on the Home boxes and a nine-system Body view.</a:t>
            </a:r>
          </a:p>
        </p:txBody>
      </p:sp>
      <p:sp>
        <p:nvSpPr>
          <p:cNvPr id="8" name="Rounded Rectangle 7"/>
          <p:cNvSpPr/>
          <p:nvPr/>
        </p:nvSpPr>
        <p:spPr>
          <a:xfrm>
            <a:off x="4383938"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93666" y="2148840"/>
            <a:ext cx="320436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2538"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7A520C"/>
                </a:solidFill>
                <a:latin typeface="Bricolage Grotesque"/>
              </a:rPr>
              <a:t>2. Tells her first</a:t>
            </a:r>
          </a:p>
        </p:txBody>
      </p:sp>
      <p:sp>
        <p:nvSpPr>
          <p:cNvPr id="11" name="TextBox 10"/>
          <p:cNvSpPr txBox="1"/>
          <p:nvPr/>
        </p:nvSpPr>
        <p:spPr>
          <a:xfrm>
            <a:off x="4612538"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Transparency. The disclosure gate: nothing goes to the family until she has been told.</a:t>
            </a:r>
          </a:p>
        </p:txBody>
      </p:sp>
      <p:sp>
        <p:nvSpPr>
          <p:cNvPr id="12" name="Rounded Rectangle 11"/>
          <p:cNvSpPr/>
          <p:nvPr/>
        </p:nvSpPr>
        <p:spPr>
          <a:xfrm>
            <a:off x="8036356"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46084" y="2148840"/>
            <a:ext cx="320436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4956"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6D2E5B"/>
                </a:solidFill>
                <a:latin typeface="Bricolage Grotesque"/>
              </a:rPr>
              <a:t>3. Tells the right people the right way</a:t>
            </a:r>
          </a:p>
        </p:txBody>
      </p:sp>
      <p:sp>
        <p:nvSpPr>
          <p:cNvPr id="15" name="TextBox 14"/>
          <p:cNvSpPr txBox="1"/>
          <p:nvPr/>
        </p:nvSpPr>
        <p:spPr>
          <a:xfrm>
            <a:off x="8264956"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Consent. Three levels over six record categories, enforced in every tool call, a version per person.</a:t>
            </a:r>
          </a:p>
        </p:txBody>
      </p:sp>
      <p:sp>
        <p:nvSpPr>
          <p:cNvPr id="16" name="Rectangle 15"/>
          <p:cNvSpPr/>
          <p:nvPr/>
        </p:nvSpPr>
        <p:spPr>
          <a:xfrm>
            <a:off x="731520"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Trend engine</a:t>
            </a:r>
          </a:p>
        </p:txBody>
      </p:sp>
      <p:sp>
        <p:nvSpPr>
          <p:cNvPr id="18" name="TextBox 17"/>
          <p:cNvSpPr txBox="1"/>
          <p:nvPr/>
        </p:nvSpPr>
        <p:spPr>
          <a:xfrm>
            <a:off x="731520"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reads a year of bloods</a:t>
            </a:r>
          </a:p>
        </p:txBody>
      </p:sp>
      <p:sp>
        <p:nvSpPr>
          <p:cNvPr id="19" name="TextBox 18"/>
          <p:cNvSpPr txBox="1"/>
          <p:nvPr/>
        </p:nvSpPr>
        <p:spPr>
          <a:xfrm>
            <a:off x="192172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0" name="Rectangle 19"/>
          <p:cNvSpPr/>
          <p:nvPr/>
        </p:nvSpPr>
        <p:spPr>
          <a:xfrm>
            <a:off x="2095461"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9546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Flags worsening</a:t>
            </a:r>
          </a:p>
        </p:txBody>
      </p:sp>
      <p:sp>
        <p:nvSpPr>
          <p:cNvPr id="22" name="TextBox 21"/>
          <p:cNvSpPr txBox="1"/>
          <p:nvPr/>
        </p:nvSpPr>
        <p:spPr>
          <a:xfrm>
            <a:off x="209546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improving, watch, worsening</a:t>
            </a:r>
          </a:p>
        </p:txBody>
      </p:sp>
      <p:sp>
        <p:nvSpPr>
          <p:cNvPr id="23" name="TextBox 22"/>
          <p:cNvSpPr txBox="1"/>
          <p:nvPr/>
        </p:nvSpPr>
        <p:spPr>
          <a:xfrm>
            <a:off x="328566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4" name="Rectangle 23"/>
          <p:cNvSpPr/>
          <p:nvPr/>
        </p:nvSpPr>
        <p:spPr>
          <a:xfrm>
            <a:off x="3459403"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5940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Result lands</a:t>
            </a:r>
          </a:p>
        </p:txBody>
      </p:sp>
      <p:sp>
        <p:nvSpPr>
          <p:cNvPr id="26" name="TextBox 25"/>
          <p:cNvSpPr txBox="1"/>
          <p:nvPr/>
        </p:nvSpPr>
        <p:spPr>
          <a:xfrm>
            <a:off x="345940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or a trend is flagged</a:t>
            </a:r>
          </a:p>
        </p:txBody>
      </p:sp>
      <p:sp>
        <p:nvSpPr>
          <p:cNvPr id="27" name="TextBox 26"/>
          <p:cNvSpPr txBox="1"/>
          <p:nvPr/>
        </p:nvSpPr>
        <p:spPr>
          <a:xfrm>
            <a:off x="4649609"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8" name="Rectangle 27"/>
          <p:cNvSpPr/>
          <p:nvPr/>
        </p:nvSpPr>
        <p:spPr>
          <a:xfrm>
            <a:off x="4823345"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3345"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Has she been told?</a:t>
            </a:r>
          </a:p>
        </p:txBody>
      </p:sp>
      <p:sp>
        <p:nvSpPr>
          <p:cNvPr id="30" name="TextBox 29"/>
          <p:cNvSpPr txBox="1"/>
          <p:nvPr/>
        </p:nvSpPr>
        <p:spPr>
          <a:xfrm>
            <a:off x="4823345"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the gate checks</a:t>
            </a:r>
          </a:p>
        </p:txBody>
      </p:sp>
      <p:sp>
        <p:nvSpPr>
          <p:cNvPr id="31" name="TextBox 30"/>
          <p:cNvSpPr txBox="1"/>
          <p:nvPr/>
        </p:nvSpPr>
        <p:spPr>
          <a:xfrm>
            <a:off x="6013551"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2" name="Rectangle 31"/>
          <p:cNvSpPr/>
          <p:nvPr/>
        </p:nvSpPr>
        <p:spPr>
          <a:xfrm>
            <a:off x="6187287"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87287"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Held / Released</a:t>
            </a:r>
          </a:p>
        </p:txBody>
      </p:sp>
      <p:sp>
        <p:nvSpPr>
          <p:cNvPr id="34" name="TextBox 33"/>
          <p:cNvSpPr txBox="1"/>
          <p:nvPr/>
        </p:nvSpPr>
        <p:spPr>
          <a:xfrm>
            <a:off x="6187287"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held until she has been talked through it</a:t>
            </a:r>
          </a:p>
        </p:txBody>
      </p:sp>
      <p:sp>
        <p:nvSpPr>
          <p:cNvPr id="35" name="TextBox 34"/>
          <p:cNvSpPr txBox="1"/>
          <p:nvPr/>
        </p:nvSpPr>
        <p:spPr>
          <a:xfrm>
            <a:off x="7377493"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6" name="Rectangle 35"/>
          <p:cNvSpPr/>
          <p:nvPr/>
        </p:nvSpPr>
        <p:spPr>
          <a:xfrm>
            <a:off x="7551229"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51229"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Her consent</a:t>
            </a:r>
          </a:p>
        </p:txBody>
      </p:sp>
      <p:sp>
        <p:nvSpPr>
          <p:cNvPr id="38" name="TextBox 37"/>
          <p:cNvSpPr txBox="1"/>
          <p:nvPr/>
        </p:nvSpPr>
        <p:spPr>
          <a:xfrm>
            <a:off x="7551229"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big news waits for her yes</a:t>
            </a:r>
          </a:p>
        </p:txBody>
      </p:sp>
      <p:sp>
        <p:nvSpPr>
          <p:cNvPr id="39" name="TextBox 38"/>
          <p:cNvSpPr txBox="1"/>
          <p:nvPr/>
        </p:nvSpPr>
        <p:spPr>
          <a:xfrm>
            <a:off x="874143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0" name="Rectangle 39"/>
          <p:cNvSpPr/>
          <p:nvPr/>
        </p:nvSpPr>
        <p:spPr>
          <a:xfrm>
            <a:off x="8915171"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17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Per-person version</a:t>
            </a:r>
          </a:p>
        </p:txBody>
      </p:sp>
      <p:sp>
        <p:nvSpPr>
          <p:cNvPr id="42" name="TextBox 41"/>
          <p:cNvSpPr txBox="1"/>
          <p:nvPr/>
        </p:nvSpPr>
        <p:spPr>
          <a:xfrm>
            <a:off x="891517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Grace numbers, Idris logistics, Thomas yes/no</a:t>
            </a:r>
          </a:p>
        </p:txBody>
      </p:sp>
      <p:sp>
        <p:nvSpPr>
          <p:cNvPr id="43" name="TextBox 42"/>
          <p:cNvSpPr txBox="1"/>
          <p:nvPr/>
        </p:nvSpPr>
        <p:spPr>
          <a:xfrm>
            <a:off x="1010537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4" name="Rectangle 43"/>
          <p:cNvSpPr/>
          <p:nvPr/>
        </p:nvSpPr>
        <p:spPr>
          <a:xfrm>
            <a:off x="10279113" y="3749039"/>
            <a:ext cx="1181061" cy="38100"/>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911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1E4A36"/>
                </a:solidFill>
                <a:latin typeface="Bricolage Grotesque"/>
              </a:rPr>
              <a:t>Act</a:t>
            </a:r>
          </a:p>
        </p:txBody>
      </p:sp>
      <p:sp>
        <p:nvSpPr>
          <p:cNvPr id="46" name="TextBox 45"/>
          <p:cNvSpPr txBox="1"/>
          <p:nvPr/>
        </p:nvSpPr>
        <p:spPr>
          <a:xfrm>
            <a:off x="1027911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explain, notify, or raise a task</a:t>
            </a:r>
          </a:p>
        </p:txBody>
      </p:sp>
      <p:sp>
        <p:nvSpPr>
          <p:cNvPr id="47" name="TextBox 46"/>
          <p:cNvSpPr txBox="1"/>
          <p:nvPr/>
        </p:nvSpPr>
        <p:spPr>
          <a:xfrm>
            <a:off x="731520" y="5166360"/>
            <a:ext cx="10789920" cy="1005840"/>
          </a:xfrm>
          <a:prstGeom prst="rect">
            <a:avLst/>
          </a:prstGeom>
          <a:noFill/>
        </p:spPr>
        <p:txBody>
          <a:bodyPr wrap="square" anchor="t" lIns="0" rIns="0" tIns="0" bIns="0">
            <a:spAutoFit/>
          </a:bodyPr>
          <a:lstStyle/>
          <a:p>
            <a:pPr algn="l">
              <a:lnSpc>
                <a:spcPct val="130000"/>
              </a:lnSpc>
              <a:spcAft>
                <a:spcPts val="600"/>
              </a:spcAft>
            </a:pPr>
            <a:r>
              <a:rPr sz="1300" b="1">
                <a:solidFill>
                  <a:srgbClr val="14261F"/>
                </a:solidFill>
                <a:latin typeface="Instrument Sans"/>
              </a:rPr>
              <a:t>If nobody tells her within three days, </a:t>
            </a:r>
            <a:r>
              <a:rPr sz="1300" b="0">
                <a:solidFill>
                  <a:srgbClr val="5F6D66"/>
                </a:solidFill>
                <a:latin typeface="Instrument Sans"/>
              </a:rPr>
              <a:t>the agent raises a GP task and phones her landline.</a:t>
            </a:r>
          </a:p>
          <a:p>
            <a:pPr algn="l">
              <a:lnSpc>
                <a:spcPct val="130000"/>
              </a:lnSpc>
              <a:spcAft>
                <a:spcPts val="600"/>
              </a:spcAft>
            </a:pPr>
            <a:r>
              <a:rPr sz="1300" b="0">
                <a:solidFill>
                  <a:srgbClr val="5F6D66"/>
                </a:solidFill>
                <a:latin typeface="Instrument Sans"/>
              </a:rPr>
              <a:t>On Eleanor's real values the engine flags her liver trend as </a:t>
            </a:r>
            <a:r>
              <a:rPr sz="1300" b="0">
                <a:solidFill>
                  <a:srgbClr val="C2572F"/>
                </a:solidFill>
                <a:latin typeface="JetBrains Mono"/>
              </a:rPr>
              <a:t>worsening</a:t>
            </a:r>
            <a:r>
              <a:rPr sz="1300" b="0">
                <a:solidFill>
                  <a:srgbClr val="5F6D66"/>
                </a:solidFill>
                <a:latin typeface="Instrument Sans"/>
              </a:rPr>
              <a:t> and her white cells as </a:t>
            </a:r>
            <a:r>
              <a:rPr sz="1300" b="0">
                <a:solidFill>
                  <a:srgbClr val="7A520C"/>
                </a:solidFill>
                <a:latin typeface="JetBrains Mono"/>
              </a:rPr>
              <a:t>watch</a:t>
            </a:r>
            <a:r>
              <a:rPr sz="1300" b="0">
                <a:solidFill>
                  <a:srgbClr val="5F6D66"/>
                </a:solidFill>
                <a:latin typeface="Instrument Sans"/>
              </a:rPr>
              <a:t>.</a:t>
            </a:r>
          </a:p>
        </p:txBody>
      </p:sp>
      <p:sp>
        <p:nvSpPr>
          <p:cNvPr id="48" name="TextBox 4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49" name="TextBox 4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