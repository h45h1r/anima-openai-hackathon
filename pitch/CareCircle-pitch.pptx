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 CareCircle (20 seconds)</a:t>
            </a:r>
          </a:p>
          <a:p/>
          <a:p>
            <a:r>
              <a:t>The Eleanor card was removed from the slide on 12 Sep evening; the slide now carries only the name and tagline. Her story below is still spoken, from memory or from these notes.</a:t>
            </a:r>
          </a:p>
          <a:p/>
          <a:p>
            <a:r>
              <a:t>**Script**</a:t>
            </a:r>
          </a:p>
          <a:p/>
          <a:p>
            <a:r>
              <a:t>"This is Eleanor Chen. She is 83. Since May she has had four abnormal blood panels. Each one was filed. Nobody looked at them together. The only message the practice ever sent her was about registration paperwork. At twenty past four this morning she was admitted with reduced mobility. Her GP appointment for half past eight is still in the book. She has a landline, no app, and her husband could not drive her to her last review. Nothing in her record has reached her family. She is the human middleware between her clinicians and her family. In her words: I want to know what that is. I want to know what's going on. I want to be aware."</a:t>
            </a:r>
          </a:p>
          <a:p/>
          <a:p>
            <a:r>
              <a:t>**What is verified in the simulator (read 12 Sep 2026, sim clock 08:00)**</a:t>
            </a:r>
          </a:p>
          <a:p/>
          <a:p>
            <a:r>
              <a:t>- Born 1943-05-12, so 83 on the sim date (PDS record).</a:t>
            </a:r>
          </a:p>
          <a:p>
            <a:r>
              <a:t>- White cell count below the 4 to 11 reference range on 15 May (2.7), 14 Jul (1.6), 29 Aug (1.3) and 11 Sep 2026 (2.1). All panels status "available", none reviewed, no task, no message about any of them. That is "each one was filed, nobody looked at them together".</a:t>
            </a:r>
          </a:p>
          <a:p>
            <a:r>
              <a:t>- Exactly one conversation resource in the GP record: an SMS, subject "Registration paperwork", 12 Sep 01:00, "Please contact reception to finish the outstanding registration paperwork."</a:t>
            </a:r>
          </a:p>
          <a:p>
            <a:r>
              <a:t>- Hospital attendance arrived 2026-09-12 04:20, presenting complaint "Reduced mobility", AMU bed 1, acuity 3.</a:t>
            </a:r>
          </a:p>
          <a:p>
            <a:r>
              <a:t>- GP practice follow-up appointment booked 2026-09-12 08:30, 15 minutes.</a:t>
            </a:r>
          </a:p>
          <a:p>
            <a:r>
              <a:t>- Consultation 21 Jun 2026 (Dr Rowan Ellis, telephone): "Eleanor's husband could not drive her to a review." One occasion, so say "could not drive her to her last review", not "cannot drive".</a:t>
            </a:r>
          </a:p>
          <a:p>
            <a:r>
              <a:t>- Personal context: "Uses a landline and does not use the patient app."</a:t>
            </a:r>
          </a:p>
          <a:p>
            <a:r>
              <a:t>- No family contact, next of kin or carer record anywhere in the GP, hospital or community views. "Nothing in her record has gone to her family" is the safe wording; "her family knows none of it" is an inference and is not on the slide.</a:t>
            </a:r>
          </a:p>
          <a:p>
            <a:r>
              <a:t>- The wearables (steps, resting heart rate, sleep) are genuinely in the simulator record, on the community and wearables site: 4,350 steps on 5 Sep down to 1,800 on 12 Sep, flagged below her personal baseline of 4,200.</a:t>
            </a:r>
          </a:p>
          <a:p/>
          <a:p>
            <a:r>
              <a:t>Do not say "nothing here was staged". The narrative was authored by the simulator, which is why the slide says "synthetic data, authored by the simulator, not by 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 The scale (25 seconds)</a:t>
            </a:r>
          </a:p>
          <a:p/>
          <a:p>
            <a:r>
              <a:t>**Script**</a:t>
            </a:r>
          </a:p>
          <a:p/>
          <a:p>
            <a:r>
              <a:t>"This is not one patient. In a UK audit of two and a half thousand patients across 57 practices, 47 percent of blood results had no record of ever being communicated to the patient. For abnormal results it was still 31 percent. The NHS App now shows twelve million results a month. At 47 percent that is roughly five point six million results a month, around 68 million a year, with no evidence the patient was told. Doctors spend 74 minutes a day on results; across England's GPs that is about 35,000 GP-hours every working day. And a single reading is not effective at spotting decline. The trajectory is, and every GP system already holds the data. When this goes wrong it is serious: 41 serious incidents in 13 months, including a 45 millimetre lung mass. Five million unpaid carers could help. Point four percent of portal users have shared access."</a:t>
            </a:r>
          </a:p>
          <a:p/>
          <a:p>
            <a:r>
              <a:t>**Sources and working**</a:t>
            </a:r>
          </a:p>
          <a:p/>
          <a:p>
            <a:r>
              <a:t>1. **47% / 31%.** Watson J, Duncan P, Burrell A, et al. (PACT). BMJ Open Qual 2024;13:e002632. https://bmjopenquality.bmj.com/content/13/3/e002632. 57 practices, all four UK nations, blood tests taken April 2021, 2,572 patients. "Overall, in 47% (n=1210) of patients there was no evidence in the electronic health records that results had been communicated. Out of 1176 patients with one or more abnormal results there was no evidence of test communication in 30.6% (n=360)." Communication rate varied 12.2% to 80.5% between practices. Caveat: "no record in the EHR", not proof the patient was never told. Say "no record of being communicated", never "never told".</a:t>
            </a:r>
          </a:p>
          <a:p/>
          <a:p>
            <a:r>
              <a:t>2. **5.6m a month, 68m a year (extrapolated).** NHS App Roadmap, NHS England Digital, updated 22 Jul 2026, https://digital.nhs.uk/services/nhs-app/roadmap: "Every month, NHS App users view their GP health record more than 35 million times, including 12 million views of test results." Working: 12,000,000 x 0.47 = 5,640,000 a month; x 12 = 67,680,000 a year, rounded to 68m. Caveats: (a) 12m is views, not distinct results; (b) a practice-record audit rate is being applied to App views, which assumes App-viewed results carry the same documentation gap; (c) the roadmap figure is management information, not official statistics. An order-of-magnitude illustration, labelled extrapolated on the slide.</a:t>
            </a:r>
          </a:p>
          <a:p/>
          <a:p>
            <a:r>
              <a:t>3. **35,000 GP-hours a day (extrapolated).** Poon EG, Gandhi TK, Sequist TD, et al. Arch Intern Med 2004;164(20):2223-2228. https://jamanetwork.com/journals/jamainternalmedicine/fullarticle/217621. 262 physicians, 15 practices, 64% response: "they spent on average 74 minutes per clinical day managing test results"; 83% reported at least one delay in reviewing results in the previous two months; the most wanted feature was "tools to help physicians generate result letters to patients". GP denominator: NHS England Digital, General Practice Workforce, 31 July 2026, published 27 Aug 2026, https://digital.nhs.uk/data-and-information/publications/statistical/general-and-personal-medical-services/31-july-2026: "28,426 FTE Qualified permanent GPs (excludes GPs in Training Grade and Locums)". Working: 74 x 28,426 = 2,103,524 minutes a day = 35,059 hours, rounded to 35,000. Caveats: (a) Poon is a US study from 2004, self-reported, not UK data; (b) FTE, not headcount; (c) wider definitions change the answer: 29,057 FTE fully qualified GPs including locums gives about 35,800 hours, and 38,578 FTE including trainees gives about 47,600 hours. Nearest UK evidence: Elwenspoek et al. 2020 (BMC Fam Pract 21:257, 550 UK GPs): 78% spend more than 30 minutes a day on testing, 53% confident dealing with abnormal results. Watson et al. 2022 (BJGP 72:e747) quotes an estimate of 1.5 to 2 hours a day, but its primary source could not be retrieved, so do not present it as verified.</a:t>
            </a:r>
          </a:p>
          <a:p/>
          <a:p>
            <a:r>
              <a:t>4. **A single reading versus the trajectory.** Stow D, Matthews FE, Hanratty B. BMC Med 2018;16:171. https://doi.org/10.1186/s12916-018-1148-x. 13,149 people aged 75+ who died versus 13,149 matched controls, monthly electronic frailty index: "eFI at a single time point can predict mortality at a population level, but it is not effective at identifying individuals at short-term risk". Rapidly rising frailty from a low baseline: OR 2.84 (95% CI 2.34 to 3.45) for one-year mortality. "Every GP system already holds the data": the eFI is computed from routine coded GP data (Clegg A, et al. Age Ageing 2016;45:353-360, 931,541 patients). Note: the journal is BMC Medicine, not Age &amp; Ageing. The odds ratio is not on the slide.</a:t>
            </a:r>
          </a:p>
          <a:p/>
          <a:p>
            <a:r>
              <a:t>5. **41 serious incidents, 45 mm lung mass.** HSIB, "Failures in communication or follow-up of unexpected significant radiological findings", July 2019. https://www.hssib.org.uk/patient-safety-investigations/failures-in-communication-or-follow-up-of-unexpected-significant-radiological-findings/. "Between 1 April 2017 and 14 May 2018 there were 41 serious incidents reported on the Strategic Executive Information System (StEIS) ... involving a delayed lung cancer diagnosis as a result of radiological findings that were not acted upon. In 27 incidents, informing the patient about unexpected radiological findings could have prevented serious harm." Reference case: 76-year-old woman, chest x-ray 15 Jul 2017 reported "a 45mm opacity projected over the liver which may represent a right lung base mass"; letters to the consultant and GP never arrived; found by her GP three months later; died 31 Jan 2018. Caveats: radiology, not blood tests; 13.5 months. Do not say the GP ignored it (the GP never received the letter and was the one who found it) and do not say she died two months after the x-ray (about 6.5 months after the x-ray, just over two months after diagnosis).</a:t>
            </a:r>
          </a:p>
          <a:p/>
          <a:p>
            <a:r>
              <a:t>6. **5 million unpaid carers.** ONS, Unpaid care, England and Wales: Census 2021 (19 Jan 2023): "an estimated 5.0 million usual residents aged 5 years and over provided unpaid care in 2021" (4.7 million in England). https://www.ons.gov.uk/peoplepopulationandcommunity/healthandsocialcare/healthandwellbeing/bulletins/unpaidcareenglandandwales/census2021. Carers UK's survey-based estimate is higher (about 10.6 million); we use the Census figure only.</a:t>
            </a:r>
          </a:p>
          <a:p/>
          <a:p>
            <a:r>
              <a:t>7. **0.4% shared access.** Wolff JL, Berger A, Clarke D, et al. JAMIA 2016;23(6):1150-1158. https://doi.org/10.1093/jamia/ocw025. Geisinger: "Few (0.4%) registered adult patient portal users shared access to their account." Supporting: Gleason KT, et al. JAMA Netw Open 2025;8(2):e2461803, 16,005 patients aged 65+: only 43.3% aware shared access existed; 52.7% of care partners primarily used the patient's own credentials.</a:t>
            </a:r>
          </a:p>
          <a:p/>
          <a:p>
            <a:r>
              <a:t>If asked for a UK carer anxiety figure: Carers UK State of Caring 2025, 74% of carers felt stressed or anxious (online self-selected sample of about 12,500). https://www.carersuk.org/policy-and-research/key-facts-and-figures/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 Why it happens (20 seconds)</a:t>
            </a:r>
          </a:p>
          <a:p/>
          <a:p>
            <a:r>
              <a:t>**Script**</a:t>
            </a:r>
          </a:p>
          <a:p/>
          <a:p>
            <a:r>
              <a:t>"Three reasons. First, it is not seen coming: results are reviewed one at a time, and no one reads the trend. Second, she is not told: there is no reliable 'patient informed' state in the record, and nothing routes a result to the people who need to act. Third, it is not understood and the family is locked out: the App shows the number and says ring your GP, only half of adults can find the out-of-range value, and proxy access hands a person the whole record after a practice-led setup, which almost nobody has."</a:t>
            </a:r>
          </a:p>
          <a:p/>
          <a:p>
            <a:r>
              <a:t>**Citations**</a:t>
            </a:r>
          </a:p>
          <a:p/>
          <a:p>
            <a:r>
              <a:t>- Blind to the trend: Stow 2018 as above ("not effective at identifying individuals"). Eleanor's own record is the illustration: four low white cell counts, each filed as "available", none reviewed together.</a:t>
            </a:r>
          </a:p>
          <a:p>
            <a:r>
              <a:t>- No "patient informed" state: PACT audit as above (the audit could only look for evidence of communication in the EHR because no structured state exists). Litchfield I, et al. BMJ Qual Saf 2015;24(11):681-690: "none of the practices we spoke to had a fail-safe in place to ensure that results are returned to staff or patients"; 80% of practices' default was that patients phone in for normal results. Bowie P, et al. BMJ Open 2015;5:e008968: 83% of 778 practices had a results-handling hazard; 39% of hazards were about communicating the outcome to the patient.</a:t>
            </a:r>
          </a:p>
          <a:p>
            <a:r>
              <a:t>- 51%: Zikmund-Fisher BJ, Exe NL, Witteman HO. J Med Internet Res 2014;16(8):e187, n=1,817 adults aged 40 to 70: "approximately half (931/1817, 51.24%) of participants correctly identified the hemoglobin A1c value as being 'different than what [it] should be'"; 77% of higher numeracy and literacy participants versus 38% of lower. https://www.jmir.org/2014/8/e187</a:t>
            </a:r>
          </a:p>
          <a:p>
            <a:r>
              <a:t>- "Ring your GP": nhs.uk NHS App help, test results (reviewed 13 Jan 2026): "You may see test results in your record that your healthcare professional has not yet discussed with you. Contact your GP if you have any concerns." https://www.nhs.uk/nhs-app/help/test-results/. NHS App Roadmap, 22 Jul 2026, lists "helping users to view detailed test results and more easily interpret changes between consecutive results" as a next step. https://digital.nhs.uk/services/nhs-app/roadmap</a:t>
            </a:r>
          </a:p>
          <a:p>
            <a:r>
              <a:t>- Proxy access: nhs.uk family and carer access (reviewed 23 Sep 2024) and NHS England proxy access guidance (updated 13 Mar 2025): "Your GP surgery will need to set up family and carer access for you. Both you and the other person need to be patients at the same surgery"; consent form, identity checks, practice decides the level. https://www.nhs.uk/nhs-app/help/profile/family-and-carer-access/ ; https://www.england.nhs.uk/long-read/proxy-access/</a:t>
            </a:r>
          </a:p>
          <a:p>
            <a:r>
              <a:t>- Almost nobody has it: Wolff 2016 (0.4%) and Gleason 2025, as under slide 2. Crotty BH, et al. JAMA Intern Med 2015;175(9):1492-1497: older people "want to retain granular control of their information ... simple proxy access may not adequately address the needs and concerns of aging patients."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 The solution (30 seconds)</a:t>
            </a:r>
          </a:p>
          <a:p/>
          <a:p>
            <a:r>
              <a:t>Removed from the slide on 12 Sep evening and kept here to say aloud: the eight-step flow (trend engine reads a year of bloods, flags worsening, result lands or trend flagged, has she been told, held or released, her consent for big news, per-person version, act); "if nobody tells her within three days, the agent raises a GP task and phones her landline"; and "on Eleanor's real values the engine flags her liver trend as worsening and her white cells as watch".</a:t>
            </a:r>
          </a:p>
          <a:p/>
          <a:p>
            <a:r>
              <a:t>**Script**</a:t>
            </a:r>
          </a:p>
          <a:p/>
          <a:p>
            <a:r>
              <a:t>"CareCircle turns every result into the right explanation and next action for every trusted person, under the patient's control. Three pillars, one loop. One: it sees it coming. A trend engine reads a year of bloods and the watch data and says improving, watch or worsening; on Eleanor's real values it flags her liver trend as worsening and her white cells as watch. Two: it tells her first. When a result lands or a trend is flagged, the gate asks one question, has she been told, and holds everything until she has been talked through it. Big news waits for her yes. If nobody tells her within three days, the agent raises a GP task and phones her landline. Three: it tells the right people the right way. Three sharing levels over six record categories, enforced inside every tool call, mirrored to her GP's consent view. Grace gets the numbers, Idris gets the logistics, Thomas gets a yes or no. Proxy access gives a person the record. Kindred gives each person their role."</a:t>
            </a:r>
          </a:p>
          <a:p/>
          <a:p>
            <a:r>
              <a:t>**Notes**</a:t>
            </a:r>
          </a:p>
          <a:p/>
          <a:p>
            <a:r>
              <a:t>- Trend engine (prototype, `lib/insights.mjs`): run on Eleanor's fixture it returns exactly six cards, in this order: worsening liver (bilirubin, "Your liver reading has been rising since July"), worsening mobility (steps), watch immune (white cell count), watch immune (neutrophils), improving metabolic (HbA1c, three panels in a row), improving kidney (potassium). Do not say "in June" or "three months before the admission": the engine does not time-slice, so that claim is unverifiable.</a:t>
            </a:r>
          </a:p>
          <a:p>
            <a:r>
              <a:t>- Gate (prototype, `lib/gate.mjs`): deterministic code, not a model decision. Steps: idle, ordered, result_detected, disclosed, awaiting_patient, released. Family threads stay empty until disclosure, and with "ask me first" on, until the patient shares. Escalation fires only when a result is abnormal and undisclosed, and the family escalation message carries no analyte value or name.</a:t>
            </a:r>
          </a:p>
          <a:p>
            <a:r>
              <a:t>- Consent (Kindred app): levels are `Everything` (all six categories), `Only practical` (appointments, medications, care notes), `Important updates` (appointments, test results, conditions), from `web/src/lib/levels.ts`. Circle defaults from `web/src/lib/data/circle.ts`: Grace sees appointments, medications, conditions, care notes (4 of 6, a custom mix); Thomas sees appointments only; Idris sees appointments, medications, test results, conditions, care notes (5 of 6). The patient changes them on the Circle screen or by telling Kindred in words (`set_sharing_level`, `update_consent`). Enforcement is in `web/src/lib/agent/tools.ts`: every read tool calls `checkConsent` first and returns `NOT_SHARED` with an instruction not to reveal or guess; the audit rail records the check.</a:t>
            </a:r>
          </a:p>
          <a:p>
            <a:r>
              <a:t>- Plain-language rewriting evidence, for questions only: Steimetz E, et al. JAMA Netw Open 2024;7(5):e2412767. GPT-4 simplified 1,134 pathology reports from grade 13.19 to 7.45 reading level, 97.44% interpreted correctly, hallucinations in 0.26%; the authors say simplified reports "should be reviewed by clinicians before distribution to patients". Balance with Zaretsky J, et al. JAMA Netw Open 2024;7(3):e240357: discharge summaries rewritten by GPT-4, only 54% of physician reviews rated fully accurate, 18 of 100 flagged a safety concern, mostly omissions.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4b: After CareCircle (15 seconds)</a:t>
            </a:r>
          </a:p>
          <a:p/>
          <a:p>
            <a:r>
              <a:t>"So what changes for Eleanor. Her white cells were filed four times; now the trend is flagged the second time, in July. A result lands; instead of sitting there, it is held until the practice has talked her through it, and she says yes. Her daughter gets the numbers, her husband gets the lift to arrange, her son gets nothing-needed-this-week. And if nobody confirms within three days, a GP task is raised and her landline rings."</a:t>
            </a:r>
          </a:p>
          <a:p/>
          <a:p>
            <a:r>
              <a:t>Timing: take these 15 seconds from the demo (90 to 75) so the total stays at three minutes.</a:t>
            </a:r>
          </a:p>
          <a:p/>
          <a:p>
            <a:r>
              <a:t>Honesty: the right-hand column is what the demo shows across the app and the prototype; see the code-ownership table at the top. "Flagged in July" is the second low panel (14 July 2026, white cells 1.6) in the remote Anima record; the prototype's trend rule needs two consecutive out-of-range values, so July is the earliest it fires on her real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4F1"/>
        </a:solidFill>
        <a:effectLst/>
      </p:bgPr>
    </p:bg>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anchor="t" lIns="0" rIns="0" tIns="0" bIns="0">
            <a:spAutoFit/>
          </a:bodyPr>
          <a:lstStyle/>
          <a:p>
            <a:pPr algn="l">
              <a:lnSpc>
                <a:spcPct val="115000"/>
              </a:lnSpc>
              <a:spcAft>
                <a:spcPts val="0"/>
              </a:spcAft>
            </a:pPr>
            <a:r>
              <a:rPr sz="900" b="1">
                <a:solidFill>
                  <a:srgbClr val="5F6D66"/>
                </a:solidFill>
                <a:latin typeface="Instrument Sans"/>
              </a:rPr>
              <a:t>OPENAI × ANIMA HEALTHCARE HACKATHON · LONDON · 12 SEPTEMBER 2026</a:t>
            </a:r>
          </a:p>
        </p:txBody>
      </p:sp>
      <p:sp>
        <p:nvSpPr>
          <p:cNvPr id="3" name="Donut 2"/>
          <p:cNvSpPr/>
          <p:nvPr/>
        </p:nvSpPr>
        <p:spPr>
          <a:xfrm>
            <a:off x="731520" y="1874519"/>
            <a:ext cx="566928" cy="566928"/>
          </a:xfrm>
          <a:prstGeom prst="donut">
            <a:avLst>
              <a:gd name="adj" fmla="val 28000"/>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onut 3"/>
          <p:cNvSpPr/>
          <p:nvPr/>
        </p:nvSpPr>
        <p:spPr>
          <a:xfrm>
            <a:off x="1005840" y="1874519"/>
            <a:ext cx="566928" cy="566928"/>
          </a:xfrm>
          <a:prstGeom prst="donut">
            <a:avLst>
              <a:gd name="adj" fmla="val 28000"/>
            </a:avLst>
          </a:prstGeom>
          <a:solidFill>
            <a:srgbClr val="6D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91640" y="1691640"/>
            <a:ext cx="4206240" cy="1005840"/>
          </a:xfrm>
          <a:prstGeom prst="rect">
            <a:avLst/>
          </a:prstGeom>
          <a:noFill/>
        </p:spPr>
        <p:txBody>
          <a:bodyPr wrap="square" anchor="t" lIns="0" rIns="0" tIns="0" bIns="0">
            <a:spAutoFit/>
          </a:bodyPr>
          <a:lstStyle/>
          <a:p>
            <a:pPr algn="l">
              <a:lnSpc>
                <a:spcPct val="115000"/>
              </a:lnSpc>
              <a:spcAft>
                <a:spcPts val="0"/>
              </a:spcAft>
            </a:pPr>
            <a:r>
              <a:rPr sz="6600" b="1">
                <a:solidFill>
                  <a:srgbClr val="6D2E5B"/>
                </a:solidFill>
                <a:latin typeface="Bricolage Grotesque"/>
              </a:rPr>
              <a:t>CareCircle</a:t>
            </a:r>
          </a:p>
        </p:txBody>
      </p:sp>
      <p:sp>
        <p:nvSpPr>
          <p:cNvPr id="6" name="TextBox 5"/>
          <p:cNvSpPr txBox="1"/>
          <p:nvPr/>
        </p:nvSpPr>
        <p:spPr>
          <a:xfrm>
            <a:off x="731520" y="2880360"/>
            <a:ext cx="4480560" cy="1737360"/>
          </a:xfrm>
          <a:prstGeom prst="rect">
            <a:avLst/>
          </a:prstGeom>
          <a:noFill/>
        </p:spPr>
        <p:txBody>
          <a:bodyPr wrap="square" anchor="t" lIns="0" rIns="0" tIns="0" bIns="0">
            <a:spAutoFit/>
          </a:bodyPr>
          <a:lstStyle/>
          <a:p>
            <a:pPr algn="l">
              <a:lnSpc>
                <a:spcPct val="130000"/>
              </a:lnSpc>
              <a:spcAft>
                <a:spcPts val="0"/>
              </a:spcAft>
            </a:pPr>
            <a:r>
              <a:rPr sz="1400" b="0">
                <a:solidFill>
                  <a:srgbClr val="5F6D66"/>
                </a:solidFill>
                <a:latin typeface="Instrument Sans"/>
              </a:rPr>
              <a:t>A care companion for older people and patients with chronic conditions. Patients choose what to share with family members and carers; their choices appear in the GP consent view.</a:t>
            </a:r>
          </a:p>
        </p:txBody>
      </p:sp>
      <p:sp>
        <p:nvSpPr>
          <p:cNvPr id="7" name="TextBox 6"/>
          <p:cNvSpPr txBox="1"/>
          <p:nvPr/>
        </p:nvSpPr>
        <p:spPr>
          <a:xfrm>
            <a:off x="731520" y="6309360"/>
            <a:ext cx="7863840" cy="365760"/>
          </a:xfrm>
          <a:prstGeom prst="rect">
            <a:avLst/>
          </a:prstGeom>
          <a:noFill/>
        </p:spPr>
        <p:txBody>
          <a:bodyPr wrap="square" anchor="b" lIns="0" rIns="0" tIns="0" bIns="0">
            <a:spAutoFit/>
          </a:bodyPr>
          <a:lstStyle/>
          <a:p>
            <a:pPr algn="l">
              <a:lnSpc>
                <a:spcPct val="115000"/>
              </a:lnSpc>
              <a:spcAft>
                <a:spcPts val="0"/>
              </a:spcAft>
            </a:pPr>
            <a:r>
              <a:rPr sz="850" b="0">
                <a:solidFill>
                  <a:srgbClr val="5F6D66"/>
                </a:solidFill>
                <a:latin typeface="Instrument Sans"/>
              </a:rPr>
              <a:t>Built on the Anima simulated NHS neighbourhood. All patient data synthetic, authored by the simulator, not by us. Fictional demo, not an official NHS product.</a:t>
            </a:r>
          </a:p>
        </p:txBody>
      </p:sp>
      <p:sp>
        <p:nvSpPr>
          <p:cNvPr id="8" name="TextBox 7"/>
          <p:cNvSpPr txBox="1"/>
          <p:nvPr/>
        </p:nvSpPr>
        <p:spPr>
          <a:xfrm>
            <a:off x="7345375" y="6309360"/>
            <a:ext cx="4114800" cy="365760"/>
          </a:xfrm>
          <a:prstGeom prst="rect">
            <a:avLst/>
          </a:prstGeom>
          <a:noFill/>
        </p:spPr>
        <p:txBody>
          <a:bodyPr wrap="square" anchor="b" lIns="0" rIns="0" tIns="0" bIns="0">
            <a:spAutoFit/>
          </a:bodyPr>
          <a:lstStyle/>
          <a:p>
            <a:pPr algn="r">
              <a:lnSpc>
                <a:spcPct val="115000"/>
              </a:lnSpc>
              <a:spcAft>
                <a:spcPts val="0"/>
              </a:spcAft>
            </a:pPr>
            <a:r>
              <a:rPr sz="850" b="0">
                <a:solidFill>
                  <a:srgbClr val="5F6D66"/>
                </a:solidFill>
                <a:latin typeface="Instrument Sans"/>
              </a:rPr>
              <a:t>Team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4F1"/>
        </a:solidFill>
        <a:effectLst/>
      </p:bgPr>
    </p:bg>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anchor="t" lIns="0" rIns="0" tIns="0" bIns="0">
            <a:spAutoFit/>
          </a:bodyPr>
          <a:lstStyle/>
          <a:p>
            <a:pPr algn="l">
              <a:lnSpc>
                <a:spcPct val="115000"/>
              </a:lnSpc>
              <a:spcAft>
                <a:spcPts val="0"/>
              </a:spcAft>
            </a:pPr>
            <a:r>
              <a:rPr sz="900" b="1">
                <a:solidFill>
                  <a:srgbClr val="5F6D66"/>
                </a:solidFill>
                <a:latin typeface="Instrument Sans"/>
              </a:rPr>
              <a:t>THE SCALE</a:t>
            </a:r>
          </a:p>
        </p:txBody>
      </p:sp>
      <p:sp>
        <p:nvSpPr>
          <p:cNvPr id="3" name="TextBox 2"/>
          <p:cNvSpPr txBox="1"/>
          <p:nvPr/>
        </p:nvSpPr>
        <p:spPr>
          <a:xfrm>
            <a:off x="731520" y="777240"/>
            <a:ext cx="9144000" cy="640080"/>
          </a:xfrm>
          <a:prstGeom prst="rect">
            <a:avLst/>
          </a:prstGeom>
          <a:noFill/>
        </p:spPr>
        <p:txBody>
          <a:bodyPr wrap="square" anchor="t" lIns="0" rIns="0" tIns="0" bIns="0">
            <a:spAutoFit/>
          </a:bodyPr>
          <a:lstStyle/>
          <a:p>
            <a:pPr algn="l">
              <a:lnSpc>
                <a:spcPct val="115000"/>
              </a:lnSpc>
              <a:spcAft>
                <a:spcPts val="0"/>
              </a:spcAft>
            </a:pPr>
            <a:r>
              <a:rPr sz="3400" b="1">
                <a:solidFill>
                  <a:srgbClr val="14261F"/>
                </a:solidFill>
                <a:latin typeface="Bricolage Grotesque"/>
              </a:rPr>
              <a:t>This is not one patient.</a:t>
            </a:r>
          </a:p>
        </p:txBody>
      </p:sp>
      <p:cxnSp>
        <p:nvCxnSpPr>
          <p:cNvPr id="4" name="Connector 3"/>
          <p:cNvCxnSpPr/>
          <p:nvPr/>
        </p:nvCxnSpPr>
        <p:spPr>
          <a:xfrm>
            <a:off x="731520" y="1828800"/>
            <a:ext cx="2844698" cy="0"/>
          </a:xfrm>
          <a:prstGeom prst="line">
            <a:avLst/>
          </a:prstGeom>
          <a:ln w="38100">
            <a:solidFill>
              <a:srgbClr val="D8DE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965960"/>
            <a:ext cx="2844698" cy="1005840"/>
          </a:xfrm>
          <a:prstGeom prst="rect">
            <a:avLst/>
          </a:prstGeom>
          <a:noFill/>
        </p:spPr>
        <p:txBody>
          <a:bodyPr wrap="square" anchor="t" lIns="0" rIns="0" tIns="0" bIns="0">
            <a:spAutoFit/>
          </a:bodyPr>
          <a:lstStyle/>
          <a:p>
            <a:pPr algn="l">
              <a:lnSpc>
                <a:spcPct val="115000"/>
              </a:lnSpc>
              <a:spcAft>
                <a:spcPts val="0"/>
              </a:spcAft>
            </a:pPr>
            <a:r>
              <a:rPr sz="6000" b="1">
                <a:solidFill>
                  <a:srgbClr val="14261F"/>
                </a:solidFill>
                <a:latin typeface="Bricolage Grotesque"/>
              </a:rPr>
              <a:t>12</a:t>
            </a:r>
            <a:r>
              <a:rPr sz="2000" b="1">
                <a:solidFill>
                  <a:srgbClr val="5F6D66"/>
                </a:solidFill>
                <a:latin typeface="Bricolage Grotesque"/>
              </a:rPr>
              <a:t> m</a:t>
            </a:r>
          </a:p>
        </p:txBody>
      </p:sp>
      <p:sp>
        <p:nvSpPr>
          <p:cNvPr id="6" name="TextBox 5"/>
          <p:cNvSpPr txBox="1"/>
          <p:nvPr/>
        </p:nvSpPr>
        <p:spPr>
          <a:xfrm>
            <a:off x="731520" y="3063240"/>
            <a:ext cx="2844698" cy="822960"/>
          </a:xfrm>
          <a:prstGeom prst="rect">
            <a:avLst/>
          </a:prstGeom>
          <a:noFill/>
        </p:spPr>
        <p:txBody>
          <a:bodyPr wrap="square" anchor="t" lIns="0" rIns="0" tIns="0" bIns="0">
            <a:spAutoFit/>
          </a:bodyPr>
          <a:lstStyle/>
          <a:p>
            <a:pPr algn="l">
              <a:lnSpc>
                <a:spcPct val="120000"/>
              </a:lnSpc>
              <a:spcAft>
                <a:spcPts val="0"/>
              </a:spcAft>
            </a:pPr>
            <a:r>
              <a:rPr sz="1500" b="0">
                <a:solidFill>
                  <a:srgbClr val="5F6D66"/>
                </a:solidFill>
                <a:latin typeface="Instrument Sans"/>
              </a:rPr>
              <a:t>results seen in the NHS App </a:t>
            </a:r>
            <a:r>
              <a:rPr sz="1500" b="1">
                <a:solidFill>
                  <a:srgbClr val="14261F"/>
                </a:solidFill>
                <a:latin typeface="Instrument Sans"/>
              </a:rPr>
              <a:t>every month</a:t>
            </a:r>
          </a:p>
        </p:txBody>
      </p:sp>
      <p:sp>
        <p:nvSpPr>
          <p:cNvPr id="7" name="TextBox 6"/>
          <p:cNvSpPr txBox="1"/>
          <p:nvPr/>
        </p:nvSpPr>
        <p:spPr>
          <a:xfrm>
            <a:off x="731520" y="3840480"/>
            <a:ext cx="2844698" cy="320040"/>
          </a:xfrm>
          <a:prstGeom prst="rect">
            <a:avLst/>
          </a:prstGeom>
          <a:noFill/>
        </p:spPr>
        <p:txBody>
          <a:bodyPr wrap="square" anchor="t" lIns="0" rIns="0" tIns="0" bIns="0">
            <a:spAutoFit/>
          </a:bodyPr>
          <a:lstStyle/>
          <a:p>
            <a:pPr algn="l">
              <a:lnSpc>
                <a:spcPct val="115000"/>
              </a:lnSpc>
              <a:spcAft>
                <a:spcPts val="0"/>
              </a:spcAft>
            </a:pPr>
            <a:r>
              <a:rPr sz="900" b="0">
                <a:solidFill>
                  <a:srgbClr val="5F6D66"/>
                </a:solidFill>
                <a:latin typeface="Instrument Sans"/>
              </a:rPr>
              <a:t>NHS App roadmap, July 2026</a:t>
            </a:r>
          </a:p>
        </p:txBody>
      </p:sp>
      <p:sp>
        <p:nvSpPr>
          <p:cNvPr id="8" name="TextBox 7"/>
          <p:cNvSpPr txBox="1"/>
          <p:nvPr/>
        </p:nvSpPr>
        <p:spPr>
          <a:xfrm>
            <a:off x="3576218" y="2148840"/>
            <a:ext cx="1005840" cy="731520"/>
          </a:xfrm>
          <a:prstGeom prst="rect">
            <a:avLst/>
          </a:prstGeom>
          <a:noFill/>
        </p:spPr>
        <p:txBody>
          <a:bodyPr wrap="square" anchor="t" lIns="0" rIns="0" tIns="0" bIns="0">
            <a:spAutoFit/>
          </a:bodyPr>
          <a:lstStyle/>
          <a:p>
            <a:pPr algn="ctr">
              <a:lnSpc>
                <a:spcPct val="115000"/>
              </a:lnSpc>
              <a:spcAft>
                <a:spcPts val="0"/>
              </a:spcAft>
            </a:pPr>
            <a:r>
              <a:rPr sz="3600" b="1">
                <a:solidFill>
                  <a:srgbClr val="6D2E5B"/>
                </a:solidFill>
                <a:latin typeface="Bricolage Grotesque"/>
              </a:rPr>
              <a:t>×</a:t>
            </a:r>
          </a:p>
        </p:txBody>
      </p:sp>
      <p:cxnSp>
        <p:nvCxnSpPr>
          <p:cNvPr id="9" name="Connector 8"/>
          <p:cNvCxnSpPr/>
          <p:nvPr/>
        </p:nvCxnSpPr>
        <p:spPr>
          <a:xfrm>
            <a:off x="4582058" y="1828800"/>
            <a:ext cx="2844698" cy="0"/>
          </a:xfrm>
          <a:prstGeom prst="line">
            <a:avLst/>
          </a:prstGeom>
          <a:ln w="38100">
            <a:solidFill>
              <a:srgbClr val="D8DED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82058" y="1965960"/>
            <a:ext cx="2844698" cy="1005840"/>
          </a:xfrm>
          <a:prstGeom prst="rect">
            <a:avLst/>
          </a:prstGeom>
          <a:noFill/>
        </p:spPr>
        <p:txBody>
          <a:bodyPr wrap="square" anchor="t" lIns="0" rIns="0" tIns="0" bIns="0">
            <a:spAutoFit/>
          </a:bodyPr>
          <a:lstStyle/>
          <a:p>
            <a:pPr algn="l">
              <a:lnSpc>
                <a:spcPct val="115000"/>
              </a:lnSpc>
              <a:spcAft>
                <a:spcPts val="0"/>
              </a:spcAft>
            </a:pPr>
            <a:r>
              <a:rPr sz="6000" b="1">
                <a:solidFill>
                  <a:srgbClr val="14261F"/>
                </a:solidFill>
                <a:latin typeface="Bricolage Grotesque"/>
              </a:rPr>
              <a:t>47</a:t>
            </a:r>
            <a:r>
              <a:rPr sz="2000" b="1">
                <a:solidFill>
                  <a:srgbClr val="5F6D66"/>
                </a:solidFill>
                <a:latin typeface="Bricolage Grotesque"/>
              </a:rPr>
              <a:t> %</a:t>
            </a:r>
          </a:p>
        </p:txBody>
      </p:sp>
      <p:sp>
        <p:nvSpPr>
          <p:cNvPr id="11" name="TextBox 10"/>
          <p:cNvSpPr txBox="1"/>
          <p:nvPr/>
        </p:nvSpPr>
        <p:spPr>
          <a:xfrm>
            <a:off x="4582058" y="3063240"/>
            <a:ext cx="2844698" cy="822960"/>
          </a:xfrm>
          <a:prstGeom prst="rect">
            <a:avLst/>
          </a:prstGeom>
          <a:noFill/>
        </p:spPr>
        <p:txBody>
          <a:bodyPr wrap="square" anchor="t" lIns="0" rIns="0" tIns="0" bIns="0">
            <a:spAutoFit/>
          </a:bodyPr>
          <a:lstStyle/>
          <a:p>
            <a:pPr algn="l">
              <a:lnSpc>
                <a:spcPct val="120000"/>
              </a:lnSpc>
              <a:spcAft>
                <a:spcPts val="0"/>
              </a:spcAft>
            </a:pPr>
            <a:r>
              <a:rPr sz="1500" b="1">
                <a:solidFill>
                  <a:srgbClr val="14261F"/>
                </a:solidFill>
                <a:latin typeface="Instrument Sans"/>
              </a:rPr>
              <a:t>never recorded as told</a:t>
            </a:r>
            <a:r>
              <a:rPr sz="1500" b="0">
                <a:solidFill>
                  <a:srgbClr val="5F6D66"/>
                </a:solidFill>
                <a:latin typeface="Instrument Sans"/>
              </a:rPr>
              <a:t> to the patient</a:t>
            </a:r>
          </a:p>
        </p:txBody>
      </p:sp>
      <p:sp>
        <p:nvSpPr>
          <p:cNvPr id="12" name="TextBox 11"/>
          <p:cNvSpPr txBox="1"/>
          <p:nvPr/>
        </p:nvSpPr>
        <p:spPr>
          <a:xfrm>
            <a:off x="4582058" y="3840480"/>
            <a:ext cx="2844698" cy="320040"/>
          </a:xfrm>
          <a:prstGeom prst="rect">
            <a:avLst/>
          </a:prstGeom>
          <a:noFill/>
        </p:spPr>
        <p:txBody>
          <a:bodyPr wrap="square" anchor="t" lIns="0" rIns="0" tIns="0" bIns="0">
            <a:spAutoFit/>
          </a:bodyPr>
          <a:lstStyle/>
          <a:p>
            <a:pPr algn="l">
              <a:lnSpc>
                <a:spcPct val="115000"/>
              </a:lnSpc>
              <a:spcAft>
                <a:spcPts val="0"/>
              </a:spcAft>
            </a:pPr>
            <a:r>
              <a:rPr sz="900" b="0">
                <a:solidFill>
                  <a:srgbClr val="5F6D66"/>
                </a:solidFill>
                <a:latin typeface="Instrument Sans"/>
              </a:rPr>
              <a:t>UK audit, 2,572 patients, 57 practices</a:t>
            </a:r>
          </a:p>
        </p:txBody>
      </p:sp>
      <p:sp>
        <p:nvSpPr>
          <p:cNvPr id="13" name="TextBox 12"/>
          <p:cNvSpPr txBox="1"/>
          <p:nvPr/>
        </p:nvSpPr>
        <p:spPr>
          <a:xfrm>
            <a:off x="7426756" y="2148840"/>
            <a:ext cx="1005840" cy="731520"/>
          </a:xfrm>
          <a:prstGeom prst="rect">
            <a:avLst/>
          </a:prstGeom>
          <a:noFill/>
        </p:spPr>
        <p:txBody>
          <a:bodyPr wrap="square" anchor="t" lIns="0" rIns="0" tIns="0" bIns="0">
            <a:spAutoFit/>
          </a:bodyPr>
          <a:lstStyle/>
          <a:p>
            <a:pPr algn="ctr">
              <a:lnSpc>
                <a:spcPct val="115000"/>
              </a:lnSpc>
              <a:spcAft>
                <a:spcPts val="0"/>
              </a:spcAft>
            </a:pPr>
            <a:r>
              <a:rPr sz="3600" b="1">
                <a:solidFill>
                  <a:srgbClr val="6D2E5B"/>
                </a:solidFill>
                <a:latin typeface="Bricolage Grotesque"/>
              </a:rPr>
              <a:t>=</a:t>
            </a:r>
          </a:p>
        </p:txBody>
      </p:sp>
      <p:cxnSp>
        <p:nvCxnSpPr>
          <p:cNvPr id="14" name="Connector 13"/>
          <p:cNvCxnSpPr/>
          <p:nvPr/>
        </p:nvCxnSpPr>
        <p:spPr>
          <a:xfrm>
            <a:off x="8432596" y="1828800"/>
            <a:ext cx="2844698" cy="0"/>
          </a:xfrm>
          <a:prstGeom prst="line">
            <a:avLst/>
          </a:prstGeom>
          <a:ln w="38100">
            <a:solidFill>
              <a:srgbClr val="6D2E5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432596" y="1965960"/>
            <a:ext cx="2844698" cy="1005840"/>
          </a:xfrm>
          <a:prstGeom prst="rect">
            <a:avLst/>
          </a:prstGeom>
          <a:noFill/>
        </p:spPr>
        <p:txBody>
          <a:bodyPr wrap="square" anchor="t" lIns="0" rIns="0" tIns="0" bIns="0">
            <a:spAutoFit/>
          </a:bodyPr>
          <a:lstStyle/>
          <a:p>
            <a:pPr algn="l">
              <a:lnSpc>
                <a:spcPct val="115000"/>
              </a:lnSpc>
              <a:spcAft>
                <a:spcPts val="0"/>
              </a:spcAft>
            </a:pPr>
            <a:r>
              <a:rPr sz="6000" b="1">
                <a:solidFill>
                  <a:srgbClr val="6D2E5B"/>
                </a:solidFill>
                <a:latin typeface="Bricolage Grotesque"/>
              </a:rPr>
              <a:t>68</a:t>
            </a:r>
            <a:r>
              <a:rPr sz="2000" b="1">
                <a:solidFill>
                  <a:srgbClr val="5F6D66"/>
                </a:solidFill>
                <a:latin typeface="Bricolage Grotesque"/>
              </a:rPr>
              <a:t> m</a:t>
            </a:r>
          </a:p>
        </p:txBody>
      </p:sp>
      <p:sp>
        <p:nvSpPr>
          <p:cNvPr id="16" name="TextBox 15"/>
          <p:cNvSpPr txBox="1"/>
          <p:nvPr/>
        </p:nvSpPr>
        <p:spPr>
          <a:xfrm>
            <a:off x="8432596" y="3063240"/>
            <a:ext cx="2844698" cy="822960"/>
          </a:xfrm>
          <a:prstGeom prst="rect">
            <a:avLst/>
          </a:prstGeom>
          <a:noFill/>
        </p:spPr>
        <p:txBody>
          <a:bodyPr wrap="square" anchor="t" lIns="0" rIns="0" tIns="0" bIns="0">
            <a:spAutoFit/>
          </a:bodyPr>
          <a:lstStyle/>
          <a:p>
            <a:pPr algn="l">
              <a:lnSpc>
                <a:spcPct val="120000"/>
              </a:lnSpc>
              <a:spcAft>
                <a:spcPts val="0"/>
              </a:spcAft>
            </a:pPr>
            <a:r>
              <a:rPr sz="1500" b="0">
                <a:solidFill>
                  <a:srgbClr val="5F6D66"/>
                </a:solidFill>
                <a:latin typeface="Instrument Sans"/>
              </a:rPr>
              <a:t>results </a:t>
            </a:r>
            <a:r>
              <a:rPr sz="1500" b="1">
                <a:solidFill>
                  <a:srgbClr val="14261F"/>
                </a:solidFill>
                <a:latin typeface="Instrument Sans"/>
              </a:rPr>
              <a:t>a year</a:t>
            </a:r>
            <a:r>
              <a:rPr sz="1500" b="0">
                <a:solidFill>
                  <a:srgbClr val="5F6D66"/>
                </a:solidFill>
                <a:latin typeface="Instrument Sans"/>
              </a:rPr>
              <a:t> with no evidence the patient was told</a:t>
            </a:r>
          </a:p>
        </p:txBody>
      </p:sp>
      <p:sp>
        <p:nvSpPr>
          <p:cNvPr id="17" name="TextBox 16"/>
          <p:cNvSpPr txBox="1"/>
          <p:nvPr/>
        </p:nvSpPr>
        <p:spPr>
          <a:xfrm>
            <a:off x="8432596" y="3840480"/>
            <a:ext cx="2844698" cy="320040"/>
          </a:xfrm>
          <a:prstGeom prst="rect">
            <a:avLst/>
          </a:prstGeom>
          <a:noFill/>
        </p:spPr>
        <p:txBody>
          <a:bodyPr wrap="square" anchor="t" lIns="0" rIns="0" tIns="0" bIns="0">
            <a:spAutoFit/>
          </a:bodyPr>
          <a:lstStyle/>
          <a:p>
            <a:pPr algn="l">
              <a:lnSpc>
                <a:spcPct val="115000"/>
              </a:lnSpc>
              <a:spcAft>
                <a:spcPts val="0"/>
              </a:spcAft>
            </a:pPr>
            <a:r>
              <a:rPr sz="800" b="1">
                <a:solidFill>
                  <a:srgbClr val="7A520C"/>
                </a:solidFill>
                <a:latin typeface="Instrument Sans"/>
              </a:rPr>
              <a:t>EXTRAPOLATED  </a:t>
            </a:r>
            <a:r>
              <a:rPr sz="900" b="0">
                <a:solidFill>
                  <a:srgbClr val="5F6D66"/>
                </a:solidFill>
                <a:latin typeface="Instrument Sans"/>
              </a:rPr>
              <a:t/>
            </a:r>
          </a:p>
        </p:txBody>
      </p:sp>
      <p:sp>
        <p:nvSpPr>
          <p:cNvPr id="18" name="TextBox 17"/>
          <p:cNvSpPr txBox="1"/>
          <p:nvPr/>
        </p:nvSpPr>
        <p:spPr>
          <a:xfrm>
            <a:off x="731520" y="4754880"/>
            <a:ext cx="10728655" cy="548640"/>
          </a:xfrm>
          <a:prstGeom prst="rect">
            <a:avLst/>
          </a:prstGeom>
          <a:noFill/>
        </p:spPr>
        <p:txBody>
          <a:bodyPr wrap="square" anchor="t" lIns="0" rIns="0" tIns="0" bIns="0">
            <a:spAutoFit/>
          </a:bodyPr>
          <a:lstStyle/>
          <a:p>
            <a:pPr algn="l">
              <a:lnSpc>
                <a:spcPct val="115000"/>
              </a:lnSpc>
              <a:spcAft>
                <a:spcPts val="0"/>
              </a:spcAft>
            </a:pPr>
            <a:r>
              <a:rPr sz="1600" b="0">
                <a:solidFill>
                  <a:srgbClr val="5F6D66"/>
                </a:solidFill>
                <a:latin typeface="Instrument Sans"/>
              </a:rPr>
              <a:t>And GPs spend about </a:t>
            </a:r>
            <a:r>
              <a:rPr sz="1600" b="1">
                <a:solidFill>
                  <a:srgbClr val="14261F"/>
                </a:solidFill>
                <a:latin typeface="Instrument Sans"/>
              </a:rPr>
              <a:t>35,000 hours every working day</a:t>
            </a:r>
            <a:r>
              <a:rPr sz="1600" b="0">
                <a:solidFill>
                  <a:srgbClr val="5F6D66"/>
                </a:solidFill>
                <a:latin typeface="Instrument Sans"/>
              </a:rPr>
              <a:t> managing results.  </a:t>
            </a:r>
            <a:r>
              <a:rPr sz="800" b="1">
                <a:solidFill>
                  <a:srgbClr val="7A520C"/>
                </a:solidFill>
                <a:latin typeface="Instrument Sans"/>
              </a:rPr>
              <a:t>EXTRAPOLATED</a:t>
            </a:r>
          </a:p>
        </p:txBody>
      </p:sp>
      <p:sp>
        <p:nvSpPr>
          <p:cNvPr id="19" name="TextBox 18"/>
          <p:cNvSpPr txBox="1"/>
          <p:nvPr/>
        </p:nvSpPr>
        <p:spPr>
          <a:xfrm>
            <a:off x="731520" y="6309360"/>
            <a:ext cx="7863840" cy="365760"/>
          </a:xfrm>
          <a:prstGeom prst="rect">
            <a:avLst/>
          </a:prstGeom>
          <a:noFill/>
        </p:spPr>
        <p:txBody>
          <a:bodyPr wrap="square" anchor="b" lIns="0" rIns="0" tIns="0" bIns="0">
            <a:spAutoFit/>
          </a:bodyPr>
          <a:lstStyle/>
          <a:p>
            <a:pPr algn="l">
              <a:lnSpc>
                <a:spcPct val="115000"/>
              </a:lnSpc>
              <a:spcAft>
                <a:spcPts val="0"/>
              </a:spcAft>
            </a:pPr>
            <a:r>
              <a:rPr sz="850" b="0">
                <a:solidFill>
                  <a:srgbClr val="5F6D66"/>
                </a:solidFill>
                <a:latin typeface="Instrument Sans"/>
              </a:rPr>
              <a:t>12m × 47% × 12 months = 67.7m. 74 min per GP a day (Poon 2004) × 28,426 full-time GPs (NHS England, July 2026) = 35,059 hours. Full working and caveats in the notes.</a:t>
            </a:r>
          </a:p>
        </p:txBody>
      </p:sp>
      <p:sp>
        <p:nvSpPr>
          <p:cNvPr id="20" name="TextBox 19"/>
          <p:cNvSpPr txBox="1"/>
          <p:nvPr/>
        </p:nvSpPr>
        <p:spPr>
          <a:xfrm>
            <a:off x="7345375" y="6309360"/>
            <a:ext cx="4114800" cy="365760"/>
          </a:xfrm>
          <a:prstGeom prst="rect">
            <a:avLst/>
          </a:prstGeom>
          <a:noFill/>
        </p:spPr>
        <p:txBody>
          <a:bodyPr wrap="square" anchor="b" lIns="0" rIns="0" tIns="0" bIns="0">
            <a:spAutoFit/>
          </a:bodyPr>
          <a:lstStyle/>
          <a:p>
            <a:pPr algn="r">
              <a:lnSpc>
                <a:spcPct val="115000"/>
              </a:lnSpc>
              <a:spcAft>
                <a:spcPts val="0"/>
              </a:spcAft>
            </a:pPr>
            <a:r>
              <a:rPr sz="850" b="0">
                <a:solidFill>
                  <a:srgbClr val="5F6D66"/>
                </a:solidFill>
                <a:latin typeface="Instrument Sans"/>
              </a:rPr>
              <a:t>All patient data synthetic · Fictional demo, not an official NHS product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4F1"/>
        </a:solidFill>
        <a:effectLst/>
      </p:bgPr>
    </p:bg>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anchor="t" lIns="0" rIns="0" tIns="0" bIns="0">
            <a:spAutoFit/>
          </a:bodyPr>
          <a:lstStyle/>
          <a:p>
            <a:pPr algn="l">
              <a:lnSpc>
                <a:spcPct val="115000"/>
              </a:lnSpc>
              <a:spcAft>
                <a:spcPts val="0"/>
              </a:spcAft>
            </a:pPr>
            <a:r>
              <a:rPr sz="900" b="1">
                <a:solidFill>
                  <a:srgbClr val="5F6D66"/>
                </a:solidFill>
                <a:latin typeface="Instrument Sans"/>
              </a:rPr>
              <a:t>WHY IT HAPPENS</a:t>
            </a:r>
          </a:p>
        </p:txBody>
      </p:sp>
      <p:sp>
        <p:nvSpPr>
          <p:cNvPr id="3" name="TextBox 2"/>
          <p:cNvSpPr txBox="1"/>
          <p:nvPr/>
        </p:nvSpPr>
        <p:spPr>
          <a:xfrm>
            <a:off x="731520" y="868680"/>
            <a:ext cx="10515600" cy="1280160"/>
          </a:xfrm>
          <a:prstGeom prst="rect">
            <a:avLst/>
          </a:prstGeom>
          <a:noFill/>
        </p:spPr>
        <p:txBody>
          <a:bodyPr wrap="square" anchor="t" lIns="0" rIns="0" tIns="0" bIns="0">
            <a:spAutoFit/>
          </a:bodyPr>
          <a:lstStyle/>
          <a:p>
            <a:pPr algn="l">
              <a:lnSpc>
                <a:spcPct val="105000"/>
              </a:lnSpc>
              <a:spcAft>
                <a:spcPts val="0"/>
              </a:spcAft>
            </a:pPr>
            <a:r>
              <a:rPr sz="3400" b="1">
                <a:solidFill>
                  <a:srgbClr val="14261F"/>
                </a:solidFill>
                <a:latin typeface="Bricolage Grotesque"/>
              </a:rPr>
              <a:t>Results go nowhere, then aren't understood, </a:t>
            </a:r>
            <a:r>
              <a:rPr sz="3400" b="1">
                <a:solidFill>
                  <a:srgbClr val="6D2E5B"/>
                </a:solidFill>
                <a:latin typeface="Bricolage Grotesque"/>
              </a:rPr>
              <a:t>then the family is locked out.</a:t>
            </a:r>
          </a:p>
        </p:txBody>
      </p:sp>
      <p:sp>
        <p:nvSpPr>
          <p:cNvPr id="4" name="Rounded Rectangle 3"/>
          <p:cNvSpPr/>
          <p:nvPr/>
        </p:nvSpPr>
        <p:spPr>
          <a:xfrm>
            <a:off x="731520" y="2514600"/>
            <a:ext cx="3393338" cy="3108960"/>
          </a:xfrm>
          <a:prstGeom prst="roundRect">
            <a:avLst>
              <a:gd name="adj" fmla="val 6000"/>
            </a:avLst>
          </a:prstGeom>
          <a:solidFill>
            <a:srgbClr val="FFFFFF"/>
          </a:solidFill>
          <a:ln w="9525">
            <a:solidFill>
              <a:srgbClr val="C257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788920"/>
            <a:ext cx="2753258" cy="274320"/>
          </a:xfrm>
          <a:prstGeom prst="rect">
            <a:avLst/>
          </a:prstGeom>
          <a:noFill/>
        </p:spPr>
        <p:txBody>
          <a:bodyPr wrap="square" anchor="t" lIns="0" rIns="0" tIns="0" bIns="0">
            <a:spAutoFit/>
          </a:bodyPr>
          <a:lstStyle/>
          <a:p>
            <a:pPr algn="l">
              <a:lnSpc>
                <a:spcPct val="115000"/>
              </a:lnSpc>
              <a:spcAft>
                <a:spcPts val="0"/>
              </a:spcAft>
            </a:pPr>
            <a:r>
              <a:rPr sz="1000" b="0">
                <a:solidFill>
                  <a:srgbClr val="C2572F"/>
                </a:solidFill>
                <a:latin typeface="JetBrains Mono"/>
              </a:rPr>
              <a:t>01</a:t>
            </a:r>
          </a:p>
        </p:txBody>
      </p:sp>
      <p:sp>
        <p:nvSpPr>
          <p:cNvPr id="6" name="TextBox 5"/>
          <p:cNvSpPr txBox="1"/>
          <p:nvPr/>
        </p:nvSpPr>
        <p:spPr>
          <a:xfrm>
            <a:off x="1051560" y="3154680"/>
            <a:ext cx="2753258" cy="822960"/>
          </a:xfrm>
          <a:prstGeom prst="rect">
            <a:avLst/>
          </a:prstGeom>
          <a:noFill/>
        </p:spPr>
        <p:txBody>
          <a:bodyPr wrap="square" anchor="t" lIns="0" rIns="0" tIns="0" bIns="0">
            <a:spAutoFit/>
          </a:bodyPr>
          <a:lstStyle/>
          <a:p>
            <a:pPr algn="l">
              <a:lnSpc>
                <a:spcPct val="105000"/>
              </a:lnSpc>
              <a:spcAft>
                <a:spcPts val="0"/>
              </a:spcAft>
            </a:pPr>
            <a:r>
              <a:rPr sz="1800" b="1">
                <a:solidFill>
                  <a:srgbClr val="14261F"/>
                </a:solidFill>
                <a:latin typeface="Bricolage Grotesque"/>
              </a:rPr>
              <a:t>Blind to the trend</a:t>
            </a:r>
          </a:p>
        </p:txBody>
      </p:sp>
      <p:sp>
        <p:nvSpPr>
          <p:cNvPr id="7" name="TextBox 6"/>
          <p:cNvSpPr txBox="1"/>
          <p:nvPr/>
        </p:nvSpPr>
        <p:spPr>
          <a:xfrm>
            <a:off x="1051560" y="4023360"/>
            <a:ext cx="2753258" cy="1463040"/>
          </a:xfrm>
          <a:prstGeom prst="rect">
            <a:avLst/>
          </a:prstGeom>
          <a:noFill/>
        </p:spPr>
        <p:txBody>
          <a:bodyPr wrap="square" anchor="t" lIns="0" rIns="0" tIns="0" bIns="0">
            <a:spAutoFit/>
          </a:bodyPr>
          <a:lstStyle/>
          <a:p>
            <a:pPr algn="l">
              <a:lnSpc>
                <a:spcPct val="130000"/>
              </a:lnSpc>
              <a:spcAft>
                <a:spcPts val="0"/>
              </a:spcAft>
            </a:pPr>
            <a:r>
              <a:rPr sz="1250" b="0">
                <a:solidFill>
                  <a:srgbClr val="5F6D66"/>
                </a:solidFill>
                <a:latin typeface="Instrument Sans"/>
              </a:rPr>
              <a:t>Each result is read on its own. Nobody reads the trend.</a:t>
            </a:r>
          </a:p>
        </p:txBody>
      </p:sp>
      <p:sp>
        <p:nvSpPr>
          <p:cNvPr id="8" name="Rounded Rectangle 7"/>
          <p:cNvSpPr/>
          <p:nvPr/>
        </p:nvSpPr>
        <p:spPr>
          <a:xfrm>
            <a:off x="4399178" y="2514600"/>
            <a:ext cx="3393338" cy="3108960"/>
          </a:xfrm>
          <a:prstGeom prst="roundRect">
            <a:avLst>
              <a:gd name="adj" fmla="val 6000"/>
            </a:avLst>
          </a:prstGeom>
          <a:solidFill>
            <a:srgbClr val="FFFFFF"/>
          </a:solidFill>
          <a:ln w="9525">
            <a:solidFill>
              <a:srgbClr val="C9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19218" y="2788920"/>
            <a:ext cx="2753258" cy="274320"/>
          </a:xfrm>
          <a:prstGeom prst="rect">
            <a:avLst/>
          </a:prstGeom>
          <a:noFill/>
        </p:spPr>
        <p:txBody>
          <a:bodyPr wrap="square" anchor="t" lIns="0" rIns="0" tIns="0" bIns="0">
            <a:spAutoFit/>
          </a:bodyPr>
          <a:lstStyle/>
          <a:p>
            <a:pPr algn="l">
              <a:lnSpc>
                <a:spcPct val="115000"/>
              </a:lnSpc>
              <a:spcAft>
                <a:spcPts val="0"/>
              </a:spcAft>
            </a:pPr>
            <a:r>
              <a:rPr sz="1000" b="0">
                <a:solidFill>
                  <a:srgbClr val="7A520C"/>
                </a:solidFill>
                <a:latin typeface="JetBrains Mono"/>
              </a:rPr>
              <a:t>02</a:t>
            </a:r>
          </a:p>
        </p:txBody>
      </p:sp>
      <p:sp>
        <p:nvSpPr>
          <p:cNvPr id="10" name="TextBox 9"/>
          <p:cNvSpPr txBox="1"/>
          <p:nvPr/>
        </p:nvSpPr>
        <p:spPr>
          <a:xfrm>
            <a:off x="4719218" y="3154680"/>
            <a:ext cx="2753258" cy="822960"/>
          </a:xfrm>
          <a:prstGeom prst="rect">
            <a:avLst/>
          </a:prstGeom>
          <a:noFill/>
        </p:spPr>
        <p:txBody>
          <a:bodyPr wrap="square" anchor="t" lIns="0" rIns="0" tIns="0" bIns="0">
            <a:spAutoFit/>
          </a:bodyPr>
          <a:lstStyle/>
          <a:p>
            <a:pPr algn="l">
              <a:lnSpc>
                <a:spcPct val="105000"/>
              </a:lnSpc>
              <a:spcAft>
                <a:spcPts val="0"/>
              </a:spcAft>
            </a:pPr>
            <a:r>
              <a:rPr sz="1800" b="1">
                <a:solidFill>
                  <a:srgbClr val="14261F"/>
                </a:solidFill>
                <a:latin typeface="Bricolage Grotesque"/>
              </a:rPr>
              <a:t>No proof she was told</a:t>
            </a:r>
          </a:p>
        </p:txBody>
      </p:sp>
      <p:sp>
        <p:nvSpPr>
          <p:cNvPr id="11" name="TextBox 10"/>
          <p:cNvSpPr txBox="1"/>
          <p:nvPr/>
        </p:nvSpPr>
        <p:spPr>
          <a:xfrm>
            <a:off x="4719218" y="4023360"/>
            <a:ext cx="2753258" cy="1463040"/>
          </a:xfrm>
          <a:prstGeom prst="rect">
            <a:avLst/>
          </a:prstGeom>
          <a:noFill/>
        </p:spPr>
        <p:txBody>
          <a:bodyPr wrap="square" anchor="t" lIns="0" rIns="0" tIns="0" bIns="0">
            <a:spAutoFit/>
          </a:bodyPr>
          <a:lstStyle/>
          <a:p>
            <a:pPr algn="l">
              <a:lnSpc>
                <a:spcPct val="130000"/>
              </a:lnSpc>
              <a:spcAft>
                <a:spcPts val="0"/>
              </a:spcAft>
            </a:pPr>
            <a:r>
              <a:rPr sz="1250" b="0">
                <a:solidFill>
                  <a:srgbClr val="5F6D66"/>
                </a:solidFill>
                <a:latin typeface="Instrument Sans"/>
              </a:rPr>
              <a:t>The record never says whether she was told. Nothing chases it.</a:t>
            </a:r>
          </a:p>
        </p:txBody>
      </p:sp>
      <p:sp>
        <p:nvSpPr>
          <p:cNvPr id="12" name="Rounded Rectangle 11"/>
          <p:cNvSpPr/>
          <p:nvPr/>
        </p:nvSpPr>
        <p:spPr>
          <a:xfrm>
            <a:off x="8066836" y="2514600"/>
            <a:ext cx="3393338" cy="3108960"/>
          </a:xfrm>
          <a:prstGeom prst="roundRect">
            <a:avLst>
              <a:gd name="adj" fmla="val 6000"/>
            </a:avLst>
          </a:prstGeom>
          <a:solidFill>
            <a:srgbClr val="F1E4EC"/>
          </a:solidFill>
          <a:ln w="9525">
            <a:solidFill>
              <a:srgbClr val="6D2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6876" y="2788920"/>
            <a:ext cx="2753258" cy="274320"/>
          </a:xfrm>
          <a:prstGeom prst="rect">
            <a:avLst/>
          </a:prstGeom>
          <a:noFill/>
        </p:spPr>
        <p:txBody>
          <a:bodyPr wrap="square" anchor="t" lIns="0" rIns="0" tIns="0" bIns="0">
            <a:spAutoFit/>
          </a:bodyPr>
          <a:lstStyle/>
          <a:p>
            <a:pPr algn="l">
              <a:lnSpc>
                <a:spcPct val="115000"/>
              </a:lnSpc>
              <a:spcAft>
                <a:spcPts val="0"/>
              </a:spcAft>
            </a:pPr>
            <a:r>
              <a:rPr sz="1000" b="0">
                <a:solidFill>
                  <a:srgbClr val="6D2E5B"/>
                </a:solidFill>
                <a:latin typeface="JetBrains Mono"/>
              </a:rPr>
              <a:t>03</a:t>
            </a:r>
          </a:p>
        </p:txBody>
      </p:sp>
      <p:sp>
        <p:nvSpPr>
          <p:cNvPr id="14" name="TextBox 13"/>
          <p:cNvSpPr txBox="1"/>
          <p:nvPr/>
        </p:nvSpPr>
        <p:spPr>
          <a:xfrm>
            <a:off x="8386876" y="3154680"/>
            <a:ext cx="2753258" cy="822960"/>
          </a:xfrm>
          <a:prstGeom prst="rect">
            <a:avLst/>
          </a:prstGeom>
          <a:noFill/>
        </p:spPr>
        <p:txBody>
          <a:bodyPr wrap="square" anchor="t" lIns="0" rIns="0" tIns="0" bIns="0">
            <a:spAutoFit/>
          </a:bodyPr>
          <a:lstStyle/>
          <a:p>
            <a:pPr algn="l">
              <a:lnSpc>
                <a:spcPct val="105000"/>
              </a:lnSpc>
              <a:spcAft>
                <a:spcPts val="0"/>
              </a:spcAft>
            </a:pPr>
            <a:r>
              <a:rPr sz="1800" b="1">
                <a:solidFill>
                  <a:srgbClr val="14261F"/>
                </a:solidFill>
                <a:latin typeface="Bricolage Grotesque"/>
              </a:rPr>
              <a:t>Numbers, not meaning</a:t>
            </a:r>
          </a:p>
        </p:txBody>
      </p:sp>
      <p:sp>
        <p:nvSpPr>
          <p:cNvPr id="15" name="TextBox 14"/>
          <p:cNvSpPr txBox="1"/>
          <p:nvPr/>
        </p:nvSpPr>
        <p:spPr>
          <a:xfrm>
            <a:off x="8386876" y="4023360"/>
            <a:ext cx="2753258" cy="1463040"/>
          </a:xfrm>
          <a:prstGeom prst="rect">
            <a:avLst/>
          </a:prstGeom>
          <a:noFill/>
        </p:spPr>
        <p:txBody>
          <a:bodyPr wrap="square" anchor="t" lIns="0" rIns="0" tIns="0" bIns="0">
            <a:spAutoFit/>
          </a:bodyPr>
          <a:lstStyle/>
          <a:p>
            <a:pPr algn="l">
              <a:lnSpc>
                <a:spcPct val="130000"/>
              </a:lnSpc>
              <a:spcAft>
                <a:spcPts val="0"/>
              </a:spcAft>
            </a:pPr>
            <a:r>
              <a:rPr sz="1250" b="0">
                <a:solidFill>
                  <a:srgbClr val="5F6D66"/>
                </a:solidFill>
                <a:latin typeface="Instrument Sans"/>
              </a:rPr>
              <a:t>The App shows a number and says ring your GP. Her family sees nothing.</a:t>
            </a:r>
          </a:p>
        </p:txBody>
      </p:sp>
      <p:sp>
        <p:nvSpPr>
          <p:cNvPr id="16" name="TextBox 15"/>
          <p:cNvSpPr txBox="1"/>
          <p:nvPr/>
        </p:nvSpPr>
        <p:spPr>
          <a:xfrm>
            <a:off x="731520" y="6309360"/>
            <a:ext cx="7863840" cy="365760"/>
          </a:xfrm>
          <a:prstGeom prst="rect">
            <a:avLst/>
          </a:prstGeom>
          <a:noFill/>
        </p:spPr>
        <p:txBody>
          <a:bodyPr wrap="square" anchor="b" lIns="0" rIns="0" tIns="0" bIns="0">
            <a:spAutoFit/>
          </a:bodyPr>
          <a:lstStyle/>
          <a:p>
            <a:pPr algn="l">
              <a:lnSpc>
                <a:spcPct val="115000"/>
              </a:lnSpc>
              <a:spcAft>
                <a:spcPts val="0"/>
              </a:spcAft>
            </a:pPr>
            <a:r>
              <a:rPr sz="850" b="0">
                <a:solidFill>
                  <a:srgbClr val="5F6D66"/>
                </a:solidFill>
                <a:latin typeface="Instrument Sans"/>
              </a:rPr>
              <a:t>Citations in the speaker notes.</a:t>
            </a:r>
          </a:p>
        </p:txBody>
      </p:sp>
      <p:sp>
        <p:nvSpPr>
          <p:cNvPr id="17" name="TextBox 16"/>
          <p:cNvSpPr txBox="1"/>
          <p:nvPr/>
        </p:nvSpPr>
        <p:spPr>
          <a:xfrm>
            <a:off x="7345375" y="6309360"/>
            <a:ext cx="4114800" cy="365760"/>
          </a:xfrm>
          <a:prstGeom prst="rect">
            <a:avLst/>
          </a:prstGeom>
          <a:noFill/>
        </p:spPr>
        <p:txBody>
          <a:bodyPr wrap="square" anchor="b" lIns="0" rIns="0" tIns="0" bIns="0">
            <a:spAutoFit/>
          </a:bodyPr>
          <a:lstStyle/>
          <a:p>
            <a:pPr algn="r">
              <a:lnSpc>
                <a:spcPct val="115000"/>
              </a:lnSpc>
              <a:spcAft>
                <a:spcPts val="0"/>
              </a:spcAft>
            </a:pPr>
            <a:r>
              <a:rPr sz="850" b="0">
                <a:solidFill>
                  <a:srgbClr val="5F6D66"/>
                </a:solidFill>
                <a:latin typeface="Instrument Sans"/>
              </a:rPr>
              <a:t>All patient data synthetic · Fictional demo, not an official NHS product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4F1"/>
        </a:solidFill>
        <a:effectLst/>
      </p:bgPr>
    </p:bg>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anchor="t" lIns="0" rIns="0" tIns="0" bIns="0">
            <a:spAutoFit/>
          </a:bodyPr>
          <a:lstStyle/>
          <a:p>
            <a:pPr algn="l">
              <a:lnSpc>
                <a:spcPct val="115000"/>
              </a:lnSpc>
              <a:spcAft>
                <a:spcPts val="0"/>
              </a:spcAft>
            </a:pPr>
            <a:r>
              <a:rPr sz="900" b="1">
                <a:solidFill>
                  <a:srgbClr val="5F6D66"/>
                </a:solidFill>
                <a:latin typeface="Instrument Sans"/>
              </a:rPr>
              <a:t>THE SOLUTION</a:t>
            </a:r>
          </a:p>
        </p:txBody>
      </p:sp>
      <p:sp>
        <p:nvSpPr>
          <p:cNvPr id="3" name="TextBox 2"/>
          <p:cNvSpPr txBox="1"/>
          <p:nvPr/>
        </p:nvSpPr>
        <p:spPr>
          <a:xfrm>
            <a:off x="731520" y="822960"/>
            <a:ext cx="10058400" cy="1463040"/>
          </a:xfrm>
          <a:prstGeom prst="rect">
            <a:avLst/>
          </a:prstGeom>
          <a:noFill/>
        </p:spPr>
        <p:txBody>
          <a:bodyPr wrap="square" anchor="t" lIns="0" rIns="0" tIns="0" bIns="0">
            <a:spAutoFit/>
          </a:bodyPr>
          <a:lstStyle/>
          <a:p>
            <a:pPr algn="l">
              <a:lnSpc>
                <a:spcPct val="110000"/>
              </a:lnSpc>
              <a:spcAft>
                <a:spcPts val="0"/>
              </a:spcAft>
            </a:pPr>
            <a:r>
              <a:rPr sz="3000" b="1">
                <a:solidFill>
                  <a:srgbClr val="14261F"/>
                </a:solidFill>
                <a:latin typeface="Bricolage Grotesque"/>
              </a:rPr>
              <a:t>CareCircle turns every result into the right explanation and next action for every trusted person, </a:t>
            </a:r>
            <a:r>
              <a:rPr sz="3000" b="1">
                <a:solidFill>
                  <a:srgbClr val="6D2E5B"/>
                </a:solidFill>
                <a:latin typeface="Bricolage Grotesque"/>
              </a:rPr>
              <a:t>under the patient's control.</a:t>
            </a:r>
          </a:p>
        </p:txBody>
      </p:sp>
      <p:sp>
        <p:nvSpPr>
          <p:cNvPr id="4" name="Rounded Rectangle 3"/>
          <p:cNvSpPr/>
          <p:nvPr/>
        </p:nvSpPr>
        <p:spPr>
          <a:xfrm>
            <a:off x="731520" y="2834640"/>
            <a:ext cx="3362858" cy="2194560"/>
          </a:xfrm>
          <a:prstGeom prst="roundRect">
            <a:avLst>
              <a:gd name="adj" fmla="val 6000"/>
            </a:avLst>
          </a:prstGeom>
          <a:solidFill>
            <a:srgbClr val="FFFFFF"/>
          </a:solidFill>
          <a:ln w="9525">
            <a:solidFill>
              <a:srgbClr val="D8D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41248" y="2834640"/>
            <a:ext cx="3143402" cy="38100"/>
          </a:xfrm>
          <a:prstGeom prst="rect">
            <a:avLst/>
          </a:prstGeom>
          <a:solidFill>
            <a:srgbClr val="C25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3108960"/>
            <a:ext cx="2722778" cy="731520"/>
          </a:xfrm>
          <a:prstGeom prst="rect">
            <a:avLst/>
          </a:prstGeom>
          <a:noFill/>
        </p:spPr>
        <p:txBody>
          <a:bodyPr wrap="square" anchor="t" lIns="0" rIns="0" tIns="0" bIns="0">
            <a:spAutoFit/>
          </a:bodyPr>
          <a:lstStyle/>
          <a:p>
            <a:pPr algn="l">
              <a:lnSpc>
                <a:spcPct val="115000"/>
              </a:lnSpc>
              <a:spcAft>
                <a:spcPts val="0"/>
              </a:spcAft>
            </a:pPr>
            <a:r>
              <a:rPr sz="1700" b="1">
                <a:solidFill>
                  <a:srgbClr val="C2572F"/>
                </a:solidFill>
                <a:latin typeface="Bricolage Grotesque"/>
              </a:rPr>
              <a:t>1. Sees it coming</a:t>
            </a:r>
          </a:p>
        </p:txBody>
      </p:sp>
      <p:sp>
        <p:nvSpPr>
          <p:cNvPr id="7" name="TextBox 6"/>
          <p:cNvSpPr txBox="1"/>
          <p:nvPr/>
        </p:nvSpPr>
        <p:spPr>
          <a:xfrm>
            <a:off x="1051560" y="3840480"/>
            <a:ext cx="2722778" cy="1097280"/>
          </a:xfrm>
          <a:prstGeom prst="rect">
            <a:avLst/>
          </a:prstGeom>
          <a:noFill/>
        </p:spPr>
        <p:txBody>
          <a:bodyPr wrap="square" anchor="t" lIns="0" rIns="0" tIns="0" bIns="0">
            <a:spAutoFit/>
          </a:bodyPr>
          <a:lstStyle/>
          <a:p>
            <a:pPr algn="l">
              <a:lnSpc>
                <a:spcPct val="130000"/>
              </a:lnSpc>
              <a:spcAft>
                <a:spcPts val="0"/>
              </a:spcAft>
            </a:pPr>
            <a:r>
              <a:rPr sz="1300" b="0">
                <a:solidFill>
                  <a:srgbClr val="5F6D66"/>
                </a:solidFill>
                <a:latin typeface="Instrument Sans"/>
              </a:rPr>
              <a:t>Reads the whole trend, not one result.</a:t>
            </a:r>
          </a:p>
        </p:txBody>
      </p:sp>
      <p:sp>
        <p:nvSpPr>
          <p:cNvPr id="8" name="Rounded Rectangle 7"/>
          <p:cNvSpPr/>
          <p:nvPr/>
        </p:nvSpPr>
        <p:spPr>
          <a:xfrm>
            <a:off x="4414418" y="2834640"/>
            <a:ext cx="3362858" cy="2194560"/>
          </a:xfrm>
          <a:prstGeom prst="roundRect">
            <a:avLst>
              <a:gd name="adj" fmla="val 6000"/>
            </a:avLst>
          </a:prstGeom>
          <a:solidFill>
            <a:srgbClr val="FFFFFF"/>
          </a:solidFill>
          <a:ln w="9525">
            <a:solidFill>
              <a:srgbClr val="D8D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24146" y="2834640"/>
            <a:ext cx="3143402" cy="38100"/>
          </a:xfrm>
          <a:prstGeom prst="rect">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34458" y="3108960"/>
            <a:ext cx="2722778" cy="731520"/>
          </a:xfrm>
          <a:prstGeom prst="rect">
            <a:avLst/>
          </a:prstGeom>
          <a:noFill/>
        </p:spPr>
        <p:txBody>
          <a:bodyPr wrap="square" anchor="t" lIns="0" rIns="0" tIns="0" bIns="0">
            <a:spAutoFit/>
          </a:bodyPr>
          <a:lstStyle/>
          <a:p>
            <a:pPr algn="l">
              <a:lnSpc>
                <a:spcPct val="115000"/>
              </a:lnSpc>
              <a:spcAft>
                <a:spcPts val="0"/>
              </a:spcAft>
            </a:pPr>
            <a:r>
              <a:rPr sz="1700" b="1">
                <a:solidFill>
                  <a:srgbClr val="7A520C"/>
                </a:solidFill>
                <a:latin typeface="Bricolage Grotesque"/>
              </a:rPr>
              <a:t>2. Tells her first</a:t>
            </a:r>
          </a:p>
        </p:txBody>
      </p:sp>
      <p:sp>
        <p:nvSpPr>
          <p:cNvPr id="11" name="TextBox 10"/>
          <p:cNvSpPr txBox="1"/>
          <p:nvPr/>
        </p:nvSpPr>
        <p:spPr>
          <a:xfrm>
            <a:off x="4734458" y="3840480"/>
            <a:ext cx="2722778" cy="1097280"/>
          </a:xfrm>
          <a:prstGeom prst="rect">
            <a:avLst/>
          </a:prstGeom>
          <a:noFill/>
        </p:spPr>
        <p:txBody>
          <a:bodyPr wrap="square" anchor="t" lIns="0" rIns="0" tIns="0" bIns="0">
            <a:spAutoFit/>
          </a:bodyPr>
          <a:lstStyle/>
          <a:p>
            <a:pPr algn="l">
              <a:lnSpc>
                <a:spcPct val="130000"/>
              </a:lnSpc>
              <a:spcAft>
                <a:spcPts val="0"/>
              </a:spcAft>
            </a:pPr>
            <a:r>
              <a:rPr sz="1300" b="0">
                <a:solidFill>
                  <a:srgbClr val="5F6D66"/>
                </a:solidFill>
                <a:latin typeface="Instrument Sans"/>
              </a:rPr>
              <a:t>Nothing reaches the family until she has been told and says yes.</a:t>
            </a:r>
          </a:p>
        </p:txBody>
      </p:sp>
      <p:sp>
        <p:nvSpPr>
          <p:cNvPr id="12" name="Rounded Rectangle 11"/>
          <p:cNvSpPr/>
          <p:nvPr/>
        </p:nvSpPr>
        <p:spPr>
          <a:xfrm>
            <a:off x="8097316" y="2834640"/>
            <a:ext cx="3362858" cy="2194560"/>
          </a:xfrm>
          <a:prstGeom prst="roundRect">
            <a:avLst>
              <a:gd name="adj" fmla="val 6000"/>
            </a:avLst>
          </a:prstGeom>
          <a:solidFill>
            <a:srgbClr val="FFFFFF"/>
          </a:solidFill>
          <a:ln w="9525">
            <a:solidFill>
              <a:srgbClr val="D8D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07044" y="2834640"/>
            <a:ext cx="3143402" cy="38100"/>
          </a:xfrm>
          <a:prstGeom prst="rect">
            <a:avLst/>
          </a:prstGeom>
          <a:solidFill>
            <a:srgbClr val="6D2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7356" y="3108960"/>
            <a:ext cx="2722778" cy="731520"/>
          </a:xfrm>
          <a:prstGeom prst="rect">
            <a:avLst/>
          </a:prstGeom>
          <a:noFill/>
        </p:spPr>
        <p:txBody>
          <a:bodyPr wrap="square" anchor="t" lIns="0" rIns="0" tIns="0" bIns="0">
            <a:spAutoFit/>
          </a:bodyPr>
          <a:lstStyle/>
          <a:p>
            <a:pPr algn="l">
              <a:lnSpc>
                <a:spcPct val="115000"/>
              </a:lnSpc>
              <a:spcAft>
                <a:spcPts val="0"/>
              </a:spcAft>
            </a:pPr>
            <a:r>
              <a:rPr sz="1700" b="1">
                <a:solidFill>
                  <a:srgbClr val="6D2E5B"/>
                </a:solidFill>
                <a:latin typeface="Bricolage Grotesque"/>
              </a:rPr>
              <a:t>3. Tells the right people the right way</a:t>
            </a:r>
          </a:p>
        </p:txBody>
      </p:sp>
      <p:sp>
        <p:nvSpPr>
          <p:cNvPr id="15" name="TextBox 14"/>
          <p:cNvSpPr txBox="1"/>
          <p:nvPr/>
        </p:nvSpPr>
        <p:spPr>
          <a:xfrm>
            <a:off x="8417356" y="3840480"/>
            <a:ext cx="2722778" cy="1097280"/>
          </a:xfrm>
          <a:prstGeom prst="rect">
            <a:avLst/>
          </a:prstGeom>
          <a:noFill/>
        </p:spPr>
        <p:txBody>
          <a:bodyPr wrap="square" anchor="t" lIns="0" rIns="0" tIns="0" bIns="0">
            <a:spAutoFit/>
          </a:bodyPr>
          <a:lstStyle/>
          <a:p>
            <a:pPr algn="l">
              <a:lnSpc>
                <a:spcPct val="130000"/>
              </a:lnSpc>
              <a:spcAft>
                <a:spcPts val="0"/>
              </a:spcAft>
            </a:pPr>
            <a:r>
              <a:rPr sz="1300" b="0">
                <a:solidFill>
                  <a:srgbClr val="5F6D66"/>
                </a:solidFill>
                <a:latin typeface="Instrument Sans"/>
              </a:rPr>
              <a:t>Daughter gets the numbers. Husband gets the lift to arrange. Son gets a yes or no.</a:t>
            </a:r>
          </a:p>
        </p:txBody>
      </p:sp>
      <p:sp>
        <p:nvSpPr>
          <p:cNvPr id="16" name="TextBox 15"/>
          <p:cNvSpPr txBox="1"/>
          <p:nvPr/>
        </p:nvSpPr>
        <p:spPr>
          <a:xfrm>
            <a:off x="731520" y="6309360"/>
            <a:ext cx="7863840" cy="365760"/>
          </a:xfrm>
          <a:prstGeom prst="rect">
            <a:avLst/>
          </a:prstGeom>
          <a:noFill/>
        </p:spPr>
        <p:txBody>
          <a:bodyPr wrap="square" anchor="b" lIns="0" rIns="0" tIns="0" bIns="0">
            <a:spAutoFit/>
          </a:bodyPr>
          <a:lstStyle/>
          <a:p>
            <a:pPr algn="l">
              <a:lnSpc>
                <a:spcPct val="115000"/>
              </a:lnSpc>
              <a:spcAft>
                <a:spcPts val="0"/>
              </a:spcAft>
            </a:pPr>
            <a:r>
              <a:rPr sz="850" b="0">
                <a:solidFill>
                  <a:srgbClr val="5F6D66"/>
                </a:solidFill>
                <a:latin typeface="Instrument Sans"/>
              </a:rPr>
              <a:t>Proxy access gives a person the record. CareCircle gives each person their role.</a:t>
            </a:r>
          </a:p>
        </p:txBody>
      </p:sp>
      <p:sp>
        <p:nvSpPr>
          <p:cNvPr id="17" name="TextBox 16"/>
          <p:cNvSpPr txBox="1"/>
          <p:nvPr/>
        </p:nvSpPr>
        <p:spPr>
          <a:xfrm>
            <a:off x="7345375" y="6309360"/>
            <a:ext cx="4114800" cy="365760"/>
          </a:xfrm>
          <a:prstGeom prst="rect">
            <a:avLst/>
          </a:prstGeom>
          <a:noFill/>
        </p:spPr>
        <p:txBody>
          <a:bodyPr wrap="square" anchor="b" lIns="0" rIns="0" tIns="0" bIns="0">
            <a:spAutoFit/>
          </a:bodyPr>
          <a:lstStyle/>
          <a:p>
            <a:pPr algn="r">
              <a:lnSpc>
                <a:spcPct val="115000"/>
              </a:lnSpc>
              <a:spcAft>
                <a:spcPts val="0"/>
              </a:spcAft>
            </a:pPr>
            <a:r>
              <a:rPr sz="850" b="0">
                <a:solidFill>
                  <a:srgbClr val="5F6D66"/>
                </a:solidFill>
                <a:latin typeface="Instrument Sans"/>
              </a:rPr>
              <a:t>All patient data synthetic · Fictional demo, not an official NHS product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4F1"/>
        </a:solidFill>
        <a:effectLst/>
      </p:bgPr>
    </p:bg>
    <p:spTree>
      <p:nvGrpSpPr>
        <p:cNvPr id="1" name=""/>
        <p:cNvGrpSpPr/>
        <p:nvPr/>
      </p:nvGrpSpPr>
      <p:grpSpPr/>
      <p:sp>
        <p:nvSpPr>
          <p:cNvPr id="2" name="TextBox 1"/>
          <p:cNvSpPr txBox="1"/>
          <p:nvPr/>
        </p:nvSpPr>
        <p:spPr>
          <a:xfrm>
            <a:off x="731520" y="411480"/>
            <a:ext cx="10728655" cy="274320"/>
          </a:xfrm>
          <a:prstGeom prst="rect">
            <a:avLst/>
          </a:prstGeom>
          <a:noFill/>
        </p:spPr>
        <p:txBody>
          <a:bodyPr wrap="square" anchor="t" lIns="0" rIns="0" tIns="0" bIns="0">
            <a:spAutoFit/>
          </a:bodyPr>
          <a:lstStyle/>
          <a:p>
            <a:pPr algn="l">
              <a:lnSpc>
                <a:spcPct val="115000"/>
              </a:lnSpc>
              <a:spcAft>
                <a:spcPts val="0"/>
              </a:spcAft>
            </a:pPr>
            <a:r>
              <a:rPr sz="900" b="1">
                <a:solidFill>
                  <a:srgbClr val="5F6D66"/>
                </a:solidFill>
                <a:latin typeface="Instrument Sans"/>
              </a:rPr>
              <a:t>AFTER CARECIRCLE</a:t>
            </a:r>
          </a:p>
        </p:txBody>
      </p:sp>
      <p:sp>
        <p:nvSpPr>
          <p:cNvPr id="3" name="TextBox 2"/>
          <p:cNvSpPr txBox="1"/>
          <p:nvPr/>
        </p:nvSpPr>
        <p:spPr>
          <a:xfrm>
            <a:off x="731520" y="777240"/>
            <a:ext cx="10058400" cy="731520"/>
          </a:xfrm>
          <a:prstGeom prst="rect">
            <a:avLst/>
          </a:prstGeom>
          <a:noFill/>
        </p:spPr>
        <p:txBody>
          <a:bodyPr wrap="square" anchor="t" lIns="0" rIns="0" tIns="0" bIns="0">
            <a:spAutoFit/>
          </a:bodyPr>
          <a:lstStyle/>
          <a:p>
            <a:pPr algn="l">
              <a:lnSpc>
                <a:spcPct val="115000"/>
              </a:lnSpc>
              <a:spcAft>
                <a:spcPts val="0"/>
              </a:spcAft>
            </a:pPr>
            <a:r>
              <a:rPr sz="3400" b="1">
                <a:solidFill>
                  <a:srgbClr val="14261F"/>
                </a:solidFill>
                <a:latin typeface="Bricolage Grotesque"/>
              </a:rPr>
              <a:t>What happens to Eleanor now.</a:t>
            </a:r>
          </a:p>
        </p:txBody>
      </p:sp>
      <p:sp>
        <p:nvSpPr>
          <p:cNvPr id="4" name="TextBox 3"/>
          <p:cNvSpPr txBox="1"/>
          <p:nvPr/>
        </p:nvSpPr>
        <p:spPr>
          <a:xfrm>
            <a:off x="731520" y="1600200"/>
            <a:ext cx="4754880" cy="274320"/>
          </a:xfrm>
          <a:prstGeom prst="rect">
            <a:avLst/>
          </a:prstGeom>
          <a:noFill/>
        </p:spPr>
        <p:txBody>
          <a:bodyPr wrap="square" anchor="t" lIns="0" rIns="0" tIns="0" bIns="0">
            <a:spAutoFit/>
          </a:bodyPr>
          <a:lstStyle/>
          <a:p>
            <a:pPr algn="l">
              <a:lnSpc>
                <a:spcPct val="115000"/>
              </a:lnSpc>
              <a:spcAft>
                <a:spcPts val="0"/>
              </a:spcAft>
            </a:pPr>
            <a:r>
              <a:rPr sz="800" b="1">
                <a:solidFill>
                  <a:srgbClr val="5F6D66"/>
                </a:solidFill>
                <a:latin typeface="Instrument Sans"/>
              </a:rPr>
              <a:t>TODAY</a:t>
            </a:r>
          </a:p>
        </p:txBody>
      </p:sp>
      <p:sp>
        <p:nvSpPr>
          <p:cNvPr id="5" name="TextBox 4"/>
          <p:cNvSpPr txBox="1"/>
          <p:nvPr/>
        </p:nvSpPr>
        <p:spPr>
          <a:xfrm>
            <a:off x="6035040" y="1600200"/>
            <a:ext cx="5394960" cy="274320"/>
          </a:xfrm>
          <a:prstGeom prst="rect">
            <a:avLst/>
          </a:prstGeom>
          <a:noFill/>
        </p:spPr>
        <p:txBody>
          <a:bodyPr wrap="square" anchor="t" lIns="0" rIns="0" tIns="0" bIns="0">
            <a:spAutoFit/>
          </a:bodyPr>
          <a:lstStyle/>
          <a:p>
            <a:pPr algn="l">
              <a:lnSpc>
                <a:spcPct val="115000"/>
              </a:lnSpc>
              <a:spcAft>
                <a:spcPts val="0"/>
              </a:spcAft>
            </a:pPr>
            <a:r>
              <a:rPr sz="800" b="1">
                <a:solidFill>
                  <a:srgbClr val="6D2E5B"/>
                </a:solidFill>
                <a:latin typeface="Instrument Sans"/>
              </a:rPr>
              <a:t>WITH CARECIRCLE</a:t>
            </a:r>
          </a:p>
        </p:txBody>
      </p:sp>
      <p:sp>
        <p:nvSpPr>
          <p:cNvPr id="6" name="Rounded Rectangle 5"/>
          <p:cNvSpPr/>
          <p:nvPr/>
        </p:nvSpPr>
        <p:spPr>
          <a:xfrm>
            <a:off x="731520" y="1920240"/>
            <a:ext cx="4754880" cy="868680"/>
          </a:xfrm>
          <a:prstGeom prst="roundRect">
            <a:avLst>
              <a:gd name="adj" fmla="val 6000"/>
            </a:avLst>
          </a:prstGeom>
          <a:solidFill>
            <a:srgbClr val="FFFFFF"/>
          </a:solidFill>
          <a:ln w="9525">
            <a:solidFill>
              <a:srgbClr val="D8D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29968"/>
            <a:ext cx="4389120" cy="685800"/>
          </a:xfrm>
          <a:prstGeom prst="rect">
            <a:avLst/>
          </a:prstGeom>
          <a:noFill/>
        </p:spPr>
        <p:txBody>
          <a:bodyPr wrap="square" anchor="t" lIns="0" rIns="0" tIns="0" bIns="0">
            <a:spAutoFit/>
          </a:bodyPr>
          <a:lstStyle/>
          <a:p>
            <a:pPr algn="l">
              <a:lnSpc>
                <a:spcPct val="125000"/>
              </a:lnSpc>
              <a:spcAft>
                <a:spcPts val="0"/>
              </a:spcAft>
            </a:pPr>
            <a:r>
              <a:rPr sz="1200" b="0">
                <a:solidFill>
                  <a:srgbClr val="5F6D66"/>
                </a:solidFill>
                <a:latin typeface="Instrument Sans"/>
              </a:rPr>
              <a:t>Four low white cell counts since May, each filed on its own.</a:t>
            </a:r>
          </a:p>
        </p:txBody>
      </p:sp>
      <p:sp>
        <p:nvSpPr>
          <p:cNvPr id="8" name="TextBox 7"/>
          <p:cNvSpPr txBox="1"/>
          <p:nvPr/>
        </p:nvSpPr>
        <p:spPr>
          <a:xfrm>
            <a:off x="5486400" y="2148840"/>
            <a:ext cx="548640" cy="457200"/>
          </a:xfrm>
          <a:prstGeom prst="rect">
            <a:avLst/>
          </a:prstGeom>
          <a:noFill/>
        </p:spPr>
        <p:txBody>
          <a:bodyPr wrap="square" anchor="t" lIns="0" rIns="0" tIns="0" bIns="0">
            <a:spAutoFit/>
          </a:bodyPr>
          <a:lstStyle/>
          <a:p>
            <a:pPr algn="ctr">
              <a:lnSpc>
                <a:spcPct val="115000"/>
              </a:lnSpc>
              <a:spcAft>
                <a:spcPts val="0"/>
              </a:spcAft>
            </a:pPr>
            <a:r>
              <a:rPr sz="1800" b="1">
                <a:solidFill>
                  <a:srgbClr val="6D2E5B"/>
                </a:solidFill>
                <a:latin typeface="Bricolage Grotesque"/>
              </a:rPr>
              <a:t>→</a:t>
            </a:r>
          </a:p>
        </p:txBody>
      </p:sp>
      <p:sp>
        <p:nvSpPr>
          <p:cNvPr id="9" name="Rounded Rectangle 8"/>
          <p:cNvSpPr/>
          <p:nvPr/>
        </p:nvSpPr>
        <p:spPr>
          <a:xfrm>
            <a:off x="6035040" y="1920240"/>
            <a:ext cx="5394960" cy="868680"/>
          </a:xfrm>
          <a:prstGeom prst="roundRect">
            <a:avLst>
              <a:gd name="adj" fmla="val 6000"/>
            </a:avLst>
          </a:prstGeom>
          <a:solidFill>
            <a:srgbClr val="F1E4EC"/>
          </a:solidFill>
          <a:ln w="9525">
            <a:solidFill>
              <a:srgbClr val="6D2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2029968"/>
            <a:ext cx="5029200" cy="685800"/>
          </a:xfrm>
          <a:prstGeom prst="rect">
            <a:avLst/>
          </a:prstGeom>
          <a:noFill/>
        </p:spPr>
        <p:txBody>
          <a:bodyPr wrap="square" anchor="t" lIns="0" rIns="0" tIns="0" bIns="0">
            <a:spAutoFit/>
          </a:bodyPr>
          <a:lstStyle/>
          <a:p>
            <a:pPr algn="l">
              <a:lnSpc>
                <a:spcPct val="125000"/>
              </a:lnSpc>
              <a:spcAft>
                <a:spcPts val="0"/>
              </a:spcAft>
            </a:pPr>
            <a:r>
              <a:rPr sz="1200" b="0">
                <a:solidFill>
                  <a:srgbClr val="14261F"/>
                </a:solidFill>
                <a:latin typeface="Instrument Sans"/>
              </a:rPr>
              <a:t>The trend is flagged as worsening the second time, in July, not filed a fourth time.</a:t>
            </a:r>
          </a:p>
        </p:txBody>
      </p:sp>
      <p:sp>
        <p:nvSpPr>
          <p:cNvPr id="11" name="Rounded Rectangle 10"/>
          <p:cNvSpPr/>
          <p:nvPr/>
        </p:nvSpPr>
        <p:spPr>
          <a:xfrm>
            <a:off x="731520" y="2926080"/>
            <a:ext cx="4754880" cy="868680"/>
          </a:xfrm>
          <a:prstGeom prst="roundRect">
            <a:avLst>
              <a:gd name="adj" fmla="val 6000"/>
            </a:avLst>
          </a:prstGeom>
          <a:solidFill>
            <a:srgbClr val="FFFFFF"/>
          </a:solidFill>
          <a:ln w="9525">
            <a:solidFill>
              <a:srgbClr val="D8D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035808"/>
            <a:ext cx="4389120" cy="685800"/>
          </a:xfrm>
          <a:prstGeom prst="rect">
            <a:avLst/>
          </a:prstGeom>
          <a:noFill/>
        </p:spPr>
        <p:txBody>
          <a:bodyPr wrap="square" anchor="t" lIns="0" rIns="0" tIns="0" bIns="0">
            <a:spAutoFit/>
          </a:bodyPr>
          <a:lstStyle/>
          <a:p>
            <a:pPr algn="l">
              <a:lnSpc>
                <a:spcPct val="125000"/>
              </a:lnSpc>
              <a:spcAft>
                <a:spcPts val="0"/>
              </a:spcAft>
            </a:pPr>
            <a:r>
              <a:rPr sz="1200" b="0">
                <a:solidFill>
                  <a:srgbClr val="5F6D66"/>
                </a:solidFill>
                <a:latin typeface="Instrument Sans"/>
              </a:rPr>
              <a:t>A result lands in the record. Nobody knows if she has been told.</a:t>
            </a:r>
          </a:p>
        </p:txBody>
      </p:sp>
      <p:sp>
        <p:nvSpPr>
          <p:cNvPr id="13" name="TextBox 12"/>
          <p:cNvSpPr txBox="1"/>
          <p:nvPr/>
        </p:nvSpPr>
        <p:spPr>
          <a:xfrm>
            <a:off x="5486400" y="3154680"/>
            <a:ext cx="548640" cy="457200"/>
          </a:xfrm>
          <a:prstGeom prst="rect">
            <a:avLst/>
          </a:prstGeom>
          <a:noFill/>
        </p:spPr>
        <p:txBody>
          <a:bodyPr wrap="square" anchor="t" lIns="0" rIns="0" tIns="0" bIns="0">
            <a:spAutoFit/>
          </a:bodyPr>
          <a:lstStyle/>
          <a:p>
            <a:pPr algn="ctr">
              <a:lnSpc>
                <a:spcPct val="115000"/>
              </a:lnSpc>
              <a:spcAft>
                <a:spcPts val="0"/>
              </a:spcAft>
            </a:pPr>
            <a:r>
              <a:rPr sz="1800" b="1">
                <a:solidFill>
                  <a:srgbClr val="6D2E5B"/>
                </a:solidFill>
                <a:latin typeface="Bricolage Grotesque"/>
              </a:rPr>
              <a:t>→</a:t>
            </a:r>
          </a:p>
        </p:txBody>
      </p:sp>
      <p:sp>
        <p:nvSpPr>
          <p:cNvPr id="14" name="Rounded Rectangle 13"/>
          <p:cNvSpPr/>
          <p:nvPr/>
        </p:nvSpPr>
        <p:spPr>
          <a:xfrm>
            <a:off x="6035040" y="2926080"/>
            <a:ext cx="5394960" cy="868680"/>
          </a:xfrm>
          <a:prstGeom prst="roundRect">
            <a:avLst>
              <a:gd name="adj" fmla="val 6000"/>
            </a:avLst>
          </a:prstGeom>
          <a:solidFill>
            <a:srgbClr val="F1E4EC"/>
          </a:solidFill>
          <a:ln w="9525">
            <a:solidFill>
              <a:srgbClr val="6D2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3035808"/>
            <a:ext cx="5029200" cy="685800"/>
          </a:xfrm>
          <a:prstGeom prst="rect">
            <a:avLst/>
          </a:prstGeom>
          <a:noFill/>
        </p:spPr>
        <p:txBody>
          <a:bodyPr wrap="square" anchor="t" lIns="0" rIns="0" tIns="0" bIns="0">
            <a:spAutoFit/>
          </a:bodyPr>
          <a:lstStyle/>
          <a:p>
            <a:pPr algn="l">
              <a:lnSpc>
                <a:spcPct val="125000"/>
              </a:lnSpc>
              <a:spcAft>
                <a:spcPts val="0"/>
              </a:spcAft>
            </a:pPr>
            <a:r>
              <a:rPr sz="1200" b="0">
                <a:solidFill>
                  <a:srgbClr val="14261F"/>
                </a:solidFill>
                <a:latin typeface="Instrument Sans"/>
              </a:rPr>
              <a:t>The result is held. The practice talks her through it. She says yes.</a:t>
            </a:r>
          </a:p>
        </p:txBody>
      </p:sp>
      <p:sp>
        <p:nvSpPr>
          <p:cNvPr id="16" name="Rounded Rectangle 15"/>
          <p:cNvSpPr/>
          <p:nvPr/>
        </p:nvSpPr>
        <p:spPr>
          <a:xfrm>
            <a:off x="731520" y="3931920"/>
            <a:ext cx="4754880" cy="868680"/>
          </a:xfrm>
          <a:prstGeom prst="roundRect">
            <a:avLst>
              <a:gd name="adj" fmla="val 6000"/>
            </a:avLst>
          </a:prstGeom>
          <a:solidFill>
            <a:srgbClr val="FFFFFF"/>
          </a:solidFill>
          <a:ln w="9525">
            <a:solidFill>
              <a:srgbClr val="D8D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041648"/>
            <a:ext cx="4389120" cy="685800"/>
          </a:xfrm>
          <a:prstGeom prst="rect">
            <a:avLst/>
          </a:prstGeom>
          <a:noFill/>
        </p:spPr>
        <p:txBody>
          <a:bodyPr wrap="square" anchor="t" lIns="0" rIns="0" tIns="0" bIns="0">
            <a:spAutoFit/>
          </a:bodyPr>
          <a:lstStyle/>
          <a:p>
            <a:pPr algn="l">
              <a:lnSpc>
                <a:spcPct val="125000"/>
              </a:lnSpc>
              <a:spcAft>
                <a:spcPts val="0"/>
              </a:spcAft>
            </a:pPr>
            <a:r>
              <a:rPr sz="1200" b="0">
                <a:solidFill>
                  <a:srgbClr val="5F6D66"/>
                </a:solidFill>
                <a:latin typeface="Instrument Sans"/>
              </a:rPr>
              <a:t>Her family knows nothing. She is the messenger.</a:t>
            </a:r>
          </a:p>
        </p:txBody>
      </p:sp>
      <p:sp>
        <p:nvSpPr>
          <p:cNvPr id="18" name="TextBox 17"/>
          <p:cNvSpPr txBox="1"/>
          <p:nvPr/>
        </p:nvSpPr>
        <p:spPr>
          <a:xfrm>
            <a:off x="5486400" y="4160520"/>
            <a:ext cx="548640" cy="457200"/>
          </a:xfrm>
          <a:prstGeom prst="rect">
            <a:avLst/>
          </a:prstGeom>
          <a:noFill/>
        </p:spPr>
        <p:txBody>
          <a:bodyPr wrap="square" anchor="t" lIns="0" rIns="0" tIns="0" bIns="0">
            <a:spAutoFit/>
          </a:bodyPr>
          <a:lstStyle/>
          <a:p>
            <a:pPr algn="ctr">
              <a:lnSpc>
                <a:spcPct val="115000"/>
              </a:lnSpc>
              <a:spcAft>
                <a:spcPts val="0"/>
              </a:spcAft>
            </a:pPr>
            <a:r>
              <a:rPr sz="1800" b="1">
                <a:solidFill>
                  <a:srgbClr val="6D2E5B"/>
                </a:solidFill>
                <a:latin typeface="Bricolage Grotesque"/>
              </a:rPr>
              <a:t>→</a:t>
            </a:r>
          </a:p>
        </p:txBody>
      </p:sp>
      <p:sp>
        <p:nvSpPr>
          <p:cNvPr id="19" name="Rounded Rectangle 18"/>
          <p:cNvSpPr/>
          <p:nvPr/>
        </p:nvSpPr>
        <p:spPr>
          <a:xfrm>
            <a:off x="6035040" y="3931920"/>
            <a:ext cx="5394960" cy="868680"/>
          </a:xfrm>
          <a:prstGeom prst="roundRect">
            <a:avLst>
              <a:gd name="adj" fmla="val 6000"/>
            </a:avLst>
          </a:prstGeom>
          <a:solidFill>
            <a:srgbClr val="F1E4EC"/>
          </a:solidFill>
          <a:ln w="9525">
            <a:solidFill>
              <a:srgbClr val="6D2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4041648"/>
            <a:ext cx="5029200" cy="685800"/>
          </a:xfrm>
          <a:prstGeom prst="rect">
            <a:avLst/>
          </a:prstGeom>
          <a:noFill/>
        </p:spPr>
        <p:txBody>
          <a:bodyPr wrap="square" anchor="t" lIns="0" rIns="0" tIns="0" bIns="0">
            <a:spAutoFit/>
          </a:bodyPr>
          <a:lstStyle/>
          <a:p>
            <a:pPr algn="l">
              <a:lnSpc>
                <a:spcPct val="125000"/>
              </a:lnSpc>
              <a:spcAft>
                <a:spcPts val="0"/>
              </a:spcAft>
            </a:pPr>
            <a:r>
              <a:rPr sz="1200" b="0">
                <a:solidFill>
                  <a:srgbClr val="14261F"/>
                </a:solidFill>
                <a:latin typeface="Instrument Sans"/>
              </a:rPr>
              <a:t>Grace gets the numbers. Idris gets the lift to arrange. Thomas gets “nothing needed this week”.</a:t>
            </a:r>
          </a:p>
        </p:txBody>
      </p:sp>
      <p:sp>
        <p:nvSpPr>
          <p:cNvPr id="21" name="Rounded Rectangle 20"/>
          <p:cNvSpPr/>
          <p:nvPr/>
        </p:nvSpPr>
        <p:spPr>
          <a:xfrm>
            <a:off x="731520" y="4937760"/>
            <a:ext cx="4754880" cy="868680"/>
          </a:xfrm>
          <a:prstGeom prst="roundRect">
            <a:avLst>
              <a:gd name="adj" fmla="val 6000"/>
            </a:avLst>
          </a:prstGeom>
          <a:solidFill>
            <a:srgbClr val="FFFFFF"/>
          </a:solidFill>
          <a:ln w="9525">
            <a:solidFill>
              <a:srgbClr val="D8D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047488"/>
            <a:ext cx="4389120" cy="685800"/>
          </a:xfrm>
          <a:prstGeom prst="rect">
            <a:avLst/>
          </a:prstGeom>
          <a:noFill/>
        </p:spPr>
        <p:txBody>
          <a:bodyPr wrap="square" anchor="t" lIns="0" rIns="0" tIns="0" bIns="0">
            <a:spAutoFit/>
          </a:bodyPr>
          <a:lstStyle/>
          <a:p>
            <a:pPr algn="l">
              <a:lnSpc>
                <a:spcPct val="125000"/>
              </a:lnSpc>
              <a:spcAft>
                <a:spcPts val="0"/>
              </a:spcAft>
            </a:pPr>
            <a:r>
              <a:rPr sz="1200" b="0">
                <a:solidFill>
                  <a:srgbClr val="5F6D66"/>
                </a:solidFill>
                <a:latin typeface="Instrument Sans"/>
              </a:rPr>
              <a:t>Nobody follows up. Nothing chases it.</a:t>
            </a:r>
          </a:p>
        </p:txBody>
      </p:sp>
      <p:sp>
        <p:nvSpPr>
          <p:cNvPr id="23" name="TextBox 22"/>
          <p:cNvSpPr txBox="1"/>
          <p:nvPr/>
        </p:nvSpPr>
        <p:spPr>
          <a:xfrm>
            <a:off x="5486400" y="5166360"/>
            <a:ext cx="548640" cy="457200"/>
          </a:xfrm>
          <a:prstGeom prst="rect">
            <a:avLst/>
          </a:prstGeom>
          <a:noFill/>
        </p:spPr>
        <p:txBody>
          <a:bodyPr wrap="square" anchor="t" lIns="0" rIns="0" tIns="0" bIns="0">
            <a:spAutoFit/>
          </a:bodyPr>
          <a:lstStyle/>
          <a:p>
            <a:pPr algn="ctr">
              <a:lnSpc>
                <a:spcPct val="115000"/>
              </a:lnSpc>
              <a:spcAft>
                <a:spcPts val="0"/>
              </a:spcAft>
            </a:pPr>
            <a:r>
              <a:rPr sz="1800" b="1">
                <a:solidFill>
                  <a:srgbClr val="6D2E5B"/>
                </a:solidFill>
                <a:latin typeface="Bricolage Grotesque"/>
              </a:rPr>
              <a:t>→</a:t>
            </a:r>
          </a:p>
        </p:txBody>
      </p:sp>
      <p:sp>
        <p:nvSpPr>
          <p:cNvPr id="24" name="Rounded Rectangle 23"/>
          <p:cNvSpPr/>
          <p:nvPr/>
        </p:nvSpPr>
        <p:spPr>
          <a:xfrm>
            <a:off x="6035040" y="4937760"/>
            <a:ext cx="5394960" cy="868680"/>
          </a:xfrm>
          <a:prstGeom prst="roundRect">
            <a:avLst>
              <a:gd name="adj" fmla="val 6000"/>
            </a:avLst>
          </a:prstGeom>
          <a:solidFill>
            <a:srgbClr val="F1E4EC"/>
          </a:solidFill>
          <a:ln w="9525">
            <a:solidFill>
              <a:srgbClr val="6D2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5047488"/>
            <a:ext cx="5029200" cy="685800"/>
          </a:xfrm>
          <a:prstGeom prst="rect">
            <a:avLst/>
          </a:prstGeom>
          <a:noFill/>
        </p:spPr>
        <p:txBody>
          <a:bodyPr wrap="square" anchor="t" lIns="0" rIns="0" tIns="0" bIns="0">
            <a:spAutoFit/>
          </a:bodyPr>
          <a:lstStyle/>
          <a:p>
            <a:pPr algn="l">
              <a:lnSpc>
                <a:spcPct val="125000"/>
              </a:lnSpc>
              <a:spcAft>
                <a:spcPts val="0"/>
              </a:spcAft>
            </a:pPr>
            <a:r>
              <a:rPr sz="1200" b="0">
                <a:solidFill>
                  <a:srgbClr val="14261F"/>
                </a:solidFill>
                <a:latin typeface="Instrument Sans"/>
              </a:rPr>
              <a:t>Three days with no confirmation: a GP task is raised and her landline rings.</a:t>
            </a:r>
          </a:p>
        </p:txBody>
      </p:sp>
      <p:sp>
        <p:nvSpPr>
          <p:cNvPr id="26" name="TextBox 25"/>
          <p:cNvSpPr txBox="1"/>
          <p:nvPr/>
        </p:nvSpPr>
        <p:spPr>
          <a:xfrm>
            <a:off x="731520" y="6309360"/>
            <a:ext cx="7863840" cy="365760"/>
          </a:xfrm>
          <a:prstGeom prst="rect">
            <a:avLst/>
          </a:prstGeom>
          <a:noFill/>
        </p:spPr>
        <p:txBody>
          <a:bodyPr wrap="square" anchor="b" lIns="0" rIns="0" tIns="0" bIns="0">
            <a:spAutoFit/>
          </a:bodyPr>
          <a:lstStyle/>
          <a:p>
            <a:pPr algn="l">
              <a:lnSpc>
                <a:spcPct val="115000"/>
              </a:lnSpc>
              <a:spcAft>
                <a:spcPts val="0"/>
              </a:spcAft>
            </a:pPr>
            <a:r>
              <a:rPr sz="850" b="0">
                <a:solidFill>
                  <a:srgbClr val="5F6D66"/>
                </a:solidFill>
                <a:latin typeface="Instrument Sans"/>
              </a:rPr>
              <a:t>Every line on the right is something the demo shows. All patient data synthetic.</a:t>
            </a:r>
          </a:p>
        </p:txBody>
      </p:sp>
      <p:sp>
        <p:nvSpPr>
          <p:cNvPr id="27" name="TextBox 26"/>
          <p:cNvSpPr txBox="1"/>
          <p:nvPr/>
        </p:nvSpPr>
        <p:spPr>
          <a:xfrm>
            <a:off x="7345375" y="6309360"/>
            <a:ext cx="4114800" cy="365760"/>
          </a:xfrm>
          <a:prstGeom prst="rect">
            <a:avLst/>
          </a:prstGeom>
          <a:noFill/>
        </p:spPr>
        <p:txBody>
          <a:bodyPr wrap="square" anchor="b" lIns="0" rIns="0" tIns="0" bIns="0">
            <a:spAutoFit/>
          </a:bodyPr>
          <a:lstStyle/>
          <a:p>
            <a:pPr algn="r">
              <a:lnSpc>
                <a:spcPct val="115000"/>
              </a:lnSpc>
              <a:spcAft>
                <a:spcPts val="0"/>
              </a:spcAft>
            </a:pPr>
            <a:r>
              <a:rPr sz="850" b="0">
                <a:solidFill>
                  <a:srgbClr val="5F6D66"/>
                </a:solidFill>
                <a:latin typeface="Instrument Sans"/>
              </a:rPr>
              <a:t>All patient data synthetic · Fictional demo, not an official NHS product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