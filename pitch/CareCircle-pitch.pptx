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Not seen coming: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777240"/>
            <a:ext cx="9144000" cy="64008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This is not one patient.</a:t>
            </a:r>
          </a:p>
        </p:txBody>
      </p:sp>
      <p:cxnSp>
        <p:nvCxnSpPr>
          <p:cNvPr id="4" name="Connector 3"/>
          <p:cNvCxnSpPr/>
          <p:nvPr/>
        </p:nvCxnSpPr>
        <p:spPr>
          <a:xfrm>
            <a:off x="731520"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12</a:t>
            </a:r>
            <a:r>
              <a:rPr sz="2000" b="1">
                <a:solidFill>
                  <a:srgbClr val="5F6D66"/>
                </a:solidFill>
                <a:latin typeface="Bricolage Grotesque"/>
              </a:rPr>
              <a:t> m</a:t>
            </a:r>
          </a:p>
        </p:txBody>
      </p:sp>
      <p:sp>
        <p:nvSpPr>
          <p:cNvPr id="6" name="TextBox 5"/>
          <p:cNvSpPr txBox="1"/>
          <p:nvPr/>
        </p:nvSpPr>
        <p:spPr>
          <a:xfrm>
            <a:off x="731520"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seen in the NHS App </a:t>
            </a:r>
            <a:r>
              <a:rPr sz="1500" b="1">
                <a:solidFill>
                  <a:srgbClr val="14261F"/>
                </a:solidFill>
                <a:latin typeface="Instrument Sans"/>
              </a:rPr>
              <a:t>every month</a:t>
            </a:r>
          </a:p>
        </p:txBody>
      </p:sp>
      <p:sp>
        <p:nvSpPr>
          <p:cNvPr id="7" name="TextBox 6"/>
          <p:cNvSpPr txBox="1"/>
          <p:nvPr/>
        </p:nvSpPr>
        <p:spPr>
          <a:xfrm>
            <a:off x="731520"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NHS App roadmap, July 2026</a:t>
            </a:r>
          </a:p>
        </p:txBody>
      </p:sp>
      <p:sp>
        <p:nvSpPr>
          <p:cNvPr id="8" name="TextBox 7"/>
          <p:cNvSpPr txBox="1"/>
          <p:nvPr/>
        </p:nvSpPr>
        <p:spPr>
          <a:xfrm>
            <a:off x="3576218"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9" name="Connector 8"/>
          <p:cNvCxnSpPr/>
          <p:nvPr/>
        </p:nvCxnSpPr>
        <p:spPr>
          <a:xfrm>
            <a:off x="4582058"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82058"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47</a:t>
            </a:r>
            <a:r>
              <a:rPr sz="2000" b="1">
                <a:solidFill>
                  <a:srgbClr val="5F6D66"/>
                </a:solidFill>
                <a:latin typeface="Bricolage Grotesque"/>
              </a:rPr>
              <a:t> %</a:t>
            </a:r>
          </a:p>
        </p:txBody>
      </p:sp>
      <p:sp>
        <p:nvSpPr>
          <p:cNvPr id="11" name="TextBox 10"/>
          <p:cNvSpPr txBox="1"/>
          <p:nvPr/>
        </p:nvSpPr>
        <p:spPr>
          <a:xfrm>
            <a:off x="4582058" y="3063240"/>
            <a:ext cx="2844698" cy="822960"/>
          </a:xfrm>
          <a:prstGeom prst="rect">
            <a:avLst/>
          </a:prstGeom>
          <a:noFill/>
        </p:spPr>
        <p:txBody>
          <a:bodyPr wrap="square" anchor="t" lIns="0" rIns="0" tIns="0" bIns="0">
            <a:spAutoFit/>
          </a:bodyPr>
          <a:lstStyle/>
          <a:p>
            <a:pPr algn="l">
              <a:lnSpc>
                <a:spcPct val="120000"/>
              </a:lnSpc>
              <a:spcAft>
                <a:spcPts val="0"/>
              </a:spcAft>
            </a:pPr>
            <a:r>
              <a:rPr sz="1500" b="1">
                <a:solidFill>
                  <a:srgbClr val="14261F"/>
                </a:solidFill>
                <a:latin typeface="Instrument Sans"/>
              </a:rPr>
              <a:t>never recorded as told</a:t>
            </a:r>
            <a:r>
              <a:rPr sz="1500" b="0">
                <a:solidFill>
                  <a:srgbClr val="5F6D66"/>
                </a:solidFill>
                <a:latin typeface="Instrument Sans"/>
              </a:rPr>
              <a:t> to the patient</a:t>
            </a:r>
          </a:p>
        </p:txBody>
      </p:sp>
      <p:sp>
        <p:nvSpPr>
          <p:cNvPr id="12" name="TextBox 11"/>
          <p:cNvSpPr txBox="1"/>
          <p:nvPr/>
        </p:nvSpPr>
        <p:spPr>
          <a:xfrm>
            <a:off x="4582058"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UK audit, 2,572 patients, 57 practices</a:t>
            </a:r>
          </a:p>
        </p:txBody>
      </p:sp>
      <p:sp>
        <p:nvSpPr>
          <p:cNvPr id="13" name="TextBox 12"/>
          <p:cNvSpPr txBox="1"/>
          <p:nvPr/>
        </p:nvSpPr>
        <p:spPr>
          <a:xfrm>
            <a:off x="7426756"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14" name="Connector 13"/>
          <p:cNvCxnSpPr/>
          <p:nvPr/>
        </p:nvCxnSpPr>
        <p:spPr>
          <a:xfrm>
            <a:off x="8432596" y="1828800"/>
            <a:ext cx="2844698" cy="0"/>
          </a:xfrm>
          <a:prstGeom prst="line">
            <a:avLst/>
          </a:prstGeom>
          <a:ln w="38100">
            <a:solidFill>
              <a:srgbClr val="6D2E5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32596"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6D2E5B"/>
                </a:solidFill>
                <a:latin typeface="Bricolage Grotesque"/>
              </a:rPr>
              <a:t>68</a:t>
            </a:r>
            <a:r>
              <a:rPr sz="2000" b="1">
                <a:solidFill>
                  <a:srgbClr val="5F6D66"/>
                </a:solidFill>
                <a:latin typeface="Bricolage Grotesque"/>
              </a:rPr>
              <a:t> m</a:t>
            </a:r>
          </a:p>
        </p:txBody>
      </p:sp>
      <p:sp>
        <p:nvSpPr>
          <p:cNvPr id="16" name="TextBox 15"/>
          <p:cNvSpPr txBox="1"/>
          <p:nvPr/>
        </p:nvSpPr>
        <p:spPr>
          <a:xfrm>
            <a:off x="8432596"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a:t>
            </a:r>
            <a:r>
              <a:rPr sz="1500" b="1">
                <a:solidFill>
                  <a:srgbClr val="14261F"/>
                </a:solidFill>
                <a:latin typeface="Instrument Sans"/>
              </a:rPr>
              <a:t>a year</a:t>
            </a:r>
            <a:r>
              <a:rPr sz="1500" b="0">
                <a:solidFill>
                  <a:srgbClr val="5F6D66"/>
                </a:solidFill>
                <a:latin typeface="Instrument Sans"/>
              </a:rPr>
              <a:t> with no evidence the patient was told</a:t>
            </a:r>
          </a:p>
        </p:txBody>
      </p:sp>
      <p:sp>
        <p:nvSpPr>
          <p:cNvPr id="17" name="TextBox 16"/>
          <p:cNvSpPr txBox="1"/>
          <p:nvPr/>
        </p:nvSpPr>
        <p:spPr>
          <a:xfrm>
            <a:off x="8432596" y="3840480"/>
            <a:ext cx="2844698"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00" b="0">
                <a:solidFill>
                  <a:srgbClr val="5F6D66"/>
                </a:solidFill>
                <a:latin typeface="Instrument Sans"/>
              </a:rPr>
              <a:t/>
            </a:r>
          </a:p>
        </p:txBody>
      </p:sp>
      <p:sp>
        <p:nvSpPr>
          <p:cNvPr id="18" name="TextBox 17"/>
          <p:cNvSpPr txBox="1"/>
          <p:nvPr/>
        </p:nvSpPr>
        <p:spPr>
          <a:xfrm>
            <a:off x="731520" y="4754880"/>
            <a:ext cx="10728655" cy="548640"/>
          </a:xfrm>
          <a:prstGeom prst="rect">
            <a:avLst/>
          </a:prstGeom>
          <a:noFill/>
        </p:spPr>
        <p:txBody>
          <a:bodyPr wrap="square" anchor="t" lIns="0" rIns="0" tIns="0" bIns="0">
            <a:spAutoFit/>
          </a:bodyPr>
          <a:lstStyle/>
          <a:p>
            <a:pPr algn="l">
              <a:lnSpc>
                <a:spcPct val="115000"/>
              </a:lnSpc>
              <a:spcAft>
                <a:spcPts val="0"/>
              </a:spcAft>
            </a:pPr>
            <a:r>
              <a:rPr sz="1600" b="0">
                <a:solidFill>
                  <a:srgbClr val="5F6D66"/>
                </a:solidFill>
                <a:latin typeface="Instrument Sans"/>
              </a:rPr>
              <a:t>And GPs spend about </a:t>
            </a:r>
            <a:r>
              <a:rPr sz="1600" b="1">
                <a:solidFill>
                  <a:srgbClr val="14261F"/>
                </a:solidFill>
                <a:latin typeface="Instrument Sans"/>
              </a:rPr>
              <a:t>35,000 hours every working day</a:t>
            </a:r>
            <a:r>
              <a:rPr sz="1600" b="0">
                <a:solidFill>
                  <a:srgbClr val="5F6D66"/>
                </a:solidFill>
                <a:latin typeface="Instrument Sans"/>
              </a:rPr>
              <a:t> managing results.  </a:t>
            </a:r>
            <a:r>
              <a:rPr sz="800" b="1">
                <a:solidFill>
                  <a:srgbClr val="7A520C"/>
                </a:solidFill>
                <a:latin typeface="Instrument Sans"/>
              </a:rPr>
              <a:t>EXTRAPOLATED</a:t>
            </a:r>
          </a:p>
        </p:txBody>
      </p:sp>
      <p:sp>
        <p:nvSpPr>
          <p:cNvPr id="19" name="TextBox 18"/>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12m × 47% × 12 months = 67.7m. 74 min per GP a day (Poon 2004) × 28,426 full-time GPs (NHS England, July 2026) = 35,059 hours. Full working and caveats in the notes.</a:t>
            </a:r>
          </a:p>
        </p:txBody>
      </p:sp>
      <p:sp>
        <p:nvSpPr>
          <p:cNvPr id="20" name="TextBox 19"/>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seen coming</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Results are reviewed one at a time. No one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No reliable “patient informed” state exists in the record, and nothing routes a result to the people who need to act.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understood, locked out</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the number and says ring your GP; only 51% of adults can find the out-of-range value. Proxy access hands a person the whole record after a practice-led setup, and almost nobody has it.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731520"/>
            <a:ext cx="10789920" cy="1280160"/>
          </a:xfrm>
          <a:prstGeom prst="rect">
            <a:avLst/>
          </a:prstGeom>
          <a:noFill/>
        </p:spPr>
        <p:txBody>
          <a:bodyPr wrap="square" anchor="t" lIns="0" rIns="0" tIns="0" bIns="0">
            <a:spAutoFit/>
          </a:bodyPr>
          <a:lstStyle/>
          <a:p>
            <a:pPr algn="l">
              <a:lnSpc>
                <a:spcPct val="105000"/>
              </a:lnSpc>
              <a:spcAft>
                <a:spcPts val="0"/>
              </a:spcAft>
            </a:pPr>
            <a:r>
              <a:rPr sz="2200" b="1">
                <a:solidFill>
                  <a:srgbClr val="14261F"/>
                </a:solidFill>
                <a:latin typeface="Bricolage Grotesque"/>
              </a:rPr>
              <a:t>CareCircle turns every result into the right explanation and next action for every trusted person, </a:t>
            </a:r>
            <a:r>
              <a:rPr sz="2200" b="1">
                <a:solidFill>
                  <a:srgbClr val="6D2E5B"/>
                </a:solidFill>
                <a:latin typeface="Bricolage Grotesque"/>
              </a:rPr>
              <a:t>under the patient's control.</a:t>
            </a:r>
          </a:p>
        </p:txBody>
      </p:sp>
      <p:sp>
        <p:nvSpPr>
          <p:cNvPr id="4" name="Rounded Rectangle 3"/>
          <p:cNvSpPr/>
          <p:nvPr/>
        </p:nvSpPr>
        <p:spPr>
          <a:xfrm>
            <a:off x="731520"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148840"/>
            <a:ext cx="320436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C2572F"/>
                </a:solidFill>
                <a:latin typeface="Bricolage Grotesque"/>
              </a:rPr>
              <a:t>1. Sees it coming</a:t>
            </a:r>
          </a:p>
        </p:txBody>
      </p:sp>
      <p:sp>
        <p:nvSpPr>
          <p:cNvPr id="7" name="TextBox 6"/>
          <p:cNvSpPr txBox="1"/>
          <p:nvPr/>
        </p:nvSpPr>
        <p:spPr>
          <a:xfrm>
            <a:off x="960120"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Proactive, longitudinal. A year of bloods and a week of watch data become improving, watch, worsening, on the Home boxes and a nine-system Body view.</a:t>
            </a:r>
          </a:p>
        </p:txBody>
      </p:sp>
      <p:sp>
        <p:nvSpPr>
          <p:cNvPr id="8" name="Rounded Rectangle 7"/>
          <p:cNvSpPr/>
          <p:nvPr/>
        </p:nvSpPr>
        <p:spPr>
          <a:xfrm>
            <a:off x="4383938"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93666" y="2148840"/>
            <a:ext cx="320436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2538"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7A520C"/>
                </a:solidFill>
                <a:latin typeface="Bricolage Grotesque"/>
              </a:rPr>
              <a:t>2. Tells her first</a:t>
            </a:r>
          </a:p>
        </p:txBody>
      </p:sp>
      <p:sp>
        <p:nvSpPr>
          <p:cNvPr id="11" name="TextBox 10"/>
          <p:cNvSpPr txBox="1"/>
          <p:nvPr/>
        </p:nvSpPr>
        <p:spPr>
          <a:xfrm>
            <a:off x="4612538"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Transparency. The disclosure gate: nothing goes to the family until she has been told.</a:t>
            </a:r>
          </a:p>
        </p:txBody>
      </p:sp>
      <p:sp>
        <p:nvSpPr>
          <p:cNvPr id="12" name="Rounded Rectangle 11"/>
          <p:cNvSpPr/>
          <p:nvPr/>
        </p:nvSpPr>
        <p:spPr>
          <a:xfrm>
            <a:off x="8036356"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46084" y="2148840"/>
            <a:ext cx="320436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4956"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6D2E5B"/>
                </a:solidFill>
                <a:latin typeface="Bricolage Grotesque"/>
              </a:rPr>
              <a:t>3. Tells the right people the right way</a:t>
            </a:r>
          </a:p>
        </p:txBody>
      </p:sp>
      <p:sp>
        <p:nvSpPr>
          <p:cNvPr id="15" name="TextBox 14"/>
          <p:cNvSpPr txBox="1"/>
          <p:nvPr/>
        </p:nvSpPr>
        <p:spPr>
          <a:xfrm>
            <a:off x="8264956"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Consent. Three levels over six record categories, enforced in every tool call, a version per person.</a:t>
            </a:r>
          </a:p>
        </p:txBody>
      </p:sp>
      <p:sp>
        <p:nvSpPr>
          <p:cNvPr id="16" name="Rectangle 15"/>
          <p:cNvSpPr/>
          <p:nvPr/>
        </p:nvSpPr>
        <p:spPr>
          <a:xfrm>
            <a:off x="731520"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Trend engine</a:t>
            </a:r>
          </a:p>
        </p:txBody>
      </p:sp>
      <p:sp>
        <p:nvSpPr>
          <p:cNvPr id="18" name="TextBox 17"/>
          <p:cNvSpPr txBox="1"/>
          <p:nvPr/>
        </p:nvSpPr>
        <p:spPr>
          <a:xfrm>
            <a:off x="731520"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reads a year of bloods</a:t>
            </a:r>
          </a:p>
        </p:txBody>
      </p:sp>
      <p:sp>
        <p:nvSpPr>
          <p:cNvPr id="19" name="TextBox 18"/>
          <p:cNvSpPr txBox="1"/>
          <p:nvPr/>
        </p:nvSpPr>
        <p:spPr>
          <a:xfrm>
            <a:off x="192172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0" name="Rectangle 19"/>
          <p:cNvSpPr/>
          <p:nvPr/>
        </p:nvSpPr>
        <p:spPr>
          <a:xfrm>
            <a:off x="2095461"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9546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Flags worsening</a:t>
            </a:r>
          </a:p>
        </p:txBody>
      </p:sp>
      <p:sp>
        <p:nvSpPr>
          <p:cNvPr id="22" name="TextBox 21"/>
          <p:cNvSpPr txBox="1"/>
          <p:nvPr/>
        </p:nvSpPr>
        <p:spPr>
          <a:xfrm>
            <a:off x="209546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improving, watch, worsening</a:t>
            </a:r>
          </a:p>
        </p:txBody>
      </p:sp>
      <p:sp>
        <p:nvSpPr>
          <p:cNvPr id="23" name="TextBox 22"/>
          <p:cNvSpPr txBox="1"/>
          <p:nvPr/>
        </p:nvSpPr>
        <p:spPr>
          <a:xfrm>
            <a:off x="328566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4" name="Rectangle 23"/>
          <p:cNvSpPr/>
          <p:nvPr/>
        </p:nvSpPr>
        <p:spPr>
          <a:xfrm>
            <a:off x="3459403"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5940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Result lands</a:t>
            </a:r>
          </a:p>
        </p:txBody>
      </p:sp>
      <p:sp>
        <p:nvSpPr>
          <p:cNvPr id="26" name="TextBox 25"/>
          <p:cNvSpPr txBox="1"/>
          <p:nvPr/>
        </p:nvSpPr>
        <p:spPr>
          <a:xfrm>
            <a:off x="345940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or a trend is flagged</a:t>
            </a:r>
          </a:p>
        </p:txBody>
      </p:sp>
      <p:sp>
        <p:nvSpPr>
          <p:cNvPr id="27" name="TextBox 26"/>
          <p:cNvSpPr txBox="1"/>
          <p:nvPr/>
        </p:nvSpPr>
        <p:spPr>
          <a:xfrm>
            <a:off x="4649609"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8" name="Rectangle 27"/>
          <p:cNvSpPr/>
          <p:nvPr/>
        </p:nvSpPr>
        <p:spPr>
          <a:xfrm>
            <a:off x="4823345"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3345"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Has she been told?</a:t>
            </a:r>
          </a:p>
        </p:txBody>
      </p:sp>
      <p:sp>
        <p:nvSpPr>
          <p:cNvPr id="30" name="TextBox 29"/>
          <p:cNvSpPr txBox="1"/>
          <p:nvPr/>
        </p:nvSpPr>
        <p:spPr>
          <a:xfrm>
            <a:off x="4823345"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the gate checks</a:t>
            </a:r>
          </a:p>
        </p:txBody>
      </p:sp>
      <p:sp>
        <p:nvSpPr>
          <p:cNvPr id="31" name="TextBox 30"/>
          <p:cNvSpPr txBox="1"/>
          <p:nvPr/>
        </p:nvSpPr>
        <p:spPr>
          <a:xfrm>
            <a:off x="6013551"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2" name="Rectangle 31"/>
          <p:cNvSpPr/>
          <p:nvPr/>
        </p:nvSpPr>
        <p:spPr>
          <a:xfrm>
            <a:off x="6187287"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87287"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Held / Released</a:t>
            </a:r>
          </a:p>
        </p:txBody>
      </p:sp>
      <p:sp>
        <p:nvSpPr>
          <p:cNvPr id="34" name="TextBox 33"/>
          <p:cNvSpPr txBox="1"/>
          <p:nvPr/>
        </p:nvSpPr>
        <p:spPr>
          <a:xfrm>
            <a:off x="6187287"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held until she has been talked through it</a:t>
            </a:r>
          </a:p>
        </p:txBody>
      </p:sp>
      <p:sp>
        <p:nvSpPr>
          <p:cNvPr id="35" name="TextBox 34"/>
          <p:cNvSpPr txBox="1"/>
          <p:nvPr/>
        </p:nvSpPr>
        <p:spPr>
          <a:xfrm>
            <a:off x="7377493"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6" name="Rectangle 35"/>
          <p:cNvSpPr/>
          <p:nvPr/>
        </p:nvSpPr>
        <p:spPr>
          <a:xfrm>
            <a:off x="7551229"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51229"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Her consent</a:t>
            </a:r>
          </a:p>
        </p:txBody>
      </p:sp>
      <p:sp>
        <p:nvSpPr>
          <p:cNvPr id="38" name="TextBox 37"/>
          <p:cNvSpPr txBox="1"/>
          <p:nvPr/>
        </p:nvSpPr>
        <p:spPr>
          <a:xfrm>
            <a:off x="7551229"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big news waits for her yes</a:t>
            </a:r>
          </a:p>
        </p:txBody>
      </p:sp>
      <p:sp>
        <p:nvSpPr>
          <p:cNvPr id="39" name="TextBox 38"/>
          <p:cNvSpPr txBox="1"/>
          <p:nvPr/>
        </p:nvSpPr>
        <p:spPr>
          <a:xfrm>
            <a:off x="874143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0" name="Rectangle 39"/>
          <p:cNvSpPr/>
          <p:nvPr/>
        </p:nvSpPr>
        <p:spPr>
          <a:xfrm>
            <a:off x="8915171"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17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Per-person version</a:t>
            </a:r>
          </a:p>
        </p:txBody>
      </p:sp>
      <p:sp>
        <p:nvSpPr>
          <p:cNvPr id="42" name="TextBox 41"/>
          <p:cNvSpPr txBox="1"/>
          <p:nvPr/>
        </p:nvSpPr>
        <p:spPr>
          <a:xfrm>
            <a:off x="891517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Grace numbers, Idris logistics, Thomas yes/no</a:t>
            </a:r>
          </a:p>
        </p:txBody>
      </p:sp>
      <p:sp>
        <p:nvSpPr>
          <p:cNvPr id="43" name="TextBox 42"/>
          <p:cNvSpPr txBox="1"/>
          <p:nvPr/>
        </p:nvSpPr>
        <p:spPr>
          <a:xfrm>
            <a:off x="1010537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4" name="Rectangle 43"/>
          <p:cNvSpPr/>
          <p:nvPr/>
        </p:nvSpPr>
        <p:spPr>
          <a:xfrm>
            <a:off x="10279113" y="3749039"/>
            <a:ext cx="1181061" cy="38100"/>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911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1E4A36"/>
                </a:solidFill>
                <a:latin typeface="Bricolage Grotesque"/>
              </a:rPr>
              <a:t>Act</a:t>
            </a:r>
          </a:p>
        </p:txBody>
      </p:sp>
      <p:sp>
        <p:nvSpPr>
          <p:cNvPr id="46" name="TextBox 45"/>
          <p:cNvSpPr txBox="1"/>
          <p:nvPr/>
        </p:nvSpPr>
        <p:spPr>
          <a:xfrm>
            <a:off x="1027911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explain, notify, or raise a task</a:t>
            </a:r>
          </a:p>
        </p:txBody>
      </p:sp>
      <p:sp>
        <p:nvSpPr>
          <p:cNvPr id="47" name="TextBox 46"/>
          <p:cNvSpPr txBox="1"/>
          <p:nvPr/>
        </p:nvSpPr>
        <p:spPr>
          <a:xfrm>
            <a:off x="731520" y="5166360"/>
            <a:ext cx="10789920" cy="1005840"/>
          </a:xfrm>
          <a:prstGeom prst="rect">
            <a:avLst/>
          </a:prstGeom>
          <a:noFill/>
        </p:spPr>
        <p:txBody>
          <a:bodyPr wrap="square" anchor="t" lIns="0" rIns="0" tIns="0" bIns="0">
            <a:spAutoFit/>
          </a:bodyPr>
          <a:lstStyle/>
          <a:p>
            <a:pPr algn="l">
              <a:lnSpc>
                <a:spcPct val="130000"/>
              </a:lnSpc>
              <a:spcAft>
                <a:spcPts val="600"/>
              </a:spcAft>
            </a:pPr>
            <a:r>
              <a:rPr sz="1300" b="1">
                <a:solidFill>
                  <a:srgbClr val="14261F"/>
                </a:solidFill>
                <a:latin typeface="Instrument Sans"/>
              </a:rPr>
              <a:t>If nobody tells her within three days, </a:t>
            </a:r>
            <a:r>
              <a:rPr sz="1300" b="0">
                <a:solidFill>
                  <a:srgbClr val="5F6D66"/>
                </a:solidFill>
                <a:latin typeface="Instrument Sans"/>
              </a:rPr>
              <a:t>the agent raises a GP task and phones her landline.</a:t>
            </a:r>
          </a:p>
          <a:p>
            <a:pPr algn="l">
              <a:lnSpc>
                <a:spcPct val="130000"/>
              </a:lnSpc>
              <a:spcAft>
                <a:spcPts val="600"/>
              </a:spcAft>
            </a:pPr>
            <a:r>
              <a:rPr sz="1300" b="0">
                <a:solidFill>
                  <a:srgbClr val="5F6D66"/>
                </a:solidFill>
                <a:latin typeface="Instrument Sans"/>
              </a:rPr>
              <a:t>On Eleanor's real values the engine flags her liver trend as </a:t>
            </a:r>
            <a:r>
              <a:rPr sz="1300" b="0">
                <a:solidFill>
                  <a:srgbClr val="C2572F"/>
                </a:solidFill>
                <a:latin typeface="JetBrains Mono"/>
              </a:rPr>
              <a:t>worsening</a:t>
            </a:r>
            <a:r>
              <a:rPr sz="1300" b="0">
                <a:solidFill>
                  <a:srgbClr val="5F6D66"/>
                </a:solidFill>
                <a:latin typeface="Instrument Sans"/>
              </a:rPr>
              <a:t> and her white cells as </a:t>
            </a:r>
            <a:r>
              <a:rPr sz="1300" b="0">
                <a:solidFill>
                  <a:srgbClr val="7A520C"/>
                </a:solidFill>
                <a:latin typeface="JetBrains Mono"/>
              </a:rPr>
              <a:t>watch</a:t>
            </a:r>
            <a:r>
              <a:rPr sz="1300" b="0">
                <a:solidFill>
                  <a:srgbClr val="5F6D66"/>
                </a:solidFill>
                <a:latin typeface="Instrument Sans"/>
              </a:rPr>
              <a:t>.</a:t>
            </a:r>
          </a:p>
        </p:txBody>
      </p:sp>
      <p:sp>
        <p:nvSpPr>
          <p:cNvPr id="48" name="TextBox 4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49" name="TextBox 4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