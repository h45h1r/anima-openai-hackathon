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Eleanor (20 seconds)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"Kindred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Kindred</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Rounded Rectangle 6"/>
          <p:cNvSpPr/>
          <p:nvPr/>
        </p:nvSpPr>
        <p:spPr>
          <a:xfrm>
            <a:off x="5669280" y="1188720"/>
            <a:ext cx="5760720" cy="4754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0" y="1508760"/>
            <a:ext cx="5029200" cy="457200"/>
          </a:xfrm>
          <a:prstGeom prst="rect">
            <a:avLst/>
          </a:prstGeom>
          <a:noFill/>
        </p:spPr>
        <p:txBody>
          <a:bodyPr wrap="square" anchor="t" lIns="0" rIns="0" tIns="0" bIns="0">
            <a:spAutoFit/>
          </a:bodyPr>
          <a:lstStyle/>
          <a:p>
            <a:pPr algn="l">
              <a:lnSpc>
                <a:spcPct val="115000"/>
              </a:lnSpc>
              <a:spcAft>
                <a:spcPts val="0"/>
              </a:spcAft>
            </a:pPr>
            <a:r>
              <a:rPr sz="2600" b="1">
                <a:solidFill>
                  <a:srgbClr val="1E4A36"/>
                </a:solidFill>
                <a:latin typeface="Bricolage Grotesque"/>
              </a:rPr>
              <a:t>Eleanor Chen, 83  </a:t>
            </a:r>
            <a:r>
              <a:rPr sz="1100" b="0">
                <a:solidFill>
                  <a:srgbClr val="5F6D66"/>
                </a:solidFill>
                <a:latin typeface="JetBrains Mono"/>
              </a:rPr>
              <a:t>SIM-000006</a:t>
            </a:r>
          </a:p>
        </p:txBody>
      </p:sp>
      <p:sp>
        <p:nvSpPr>
          <p:cNvPr id="9" name="TextBox 8"/>
          <p:cNvSpPr txBox="1"/>
          <p:nvPr/>
        </p:nvSpPr>
        <p:spPr>
          <a:xfrm>
            <a:off x="6035040" y="2148840"/>
            <a:ext cx="5029200" cy="2651760"/>
          </a:xfrm>
          <a:prstGeom prst="rect">
            <a:avLst/>
          </a:prstGeom>
          <a:noFill/>
        </p:spPr>
        <p:txBody>
          <a:bodyPr wrap="square" anchor="t" lIns="0" rIns="0" tIns="0" bIns="0">
            <a:spAutoFit/>
          </a:bodyPr>
          <a:lstStyle/>
          <a:p>
            <a:pPr algn="l">
              <a:lnSpc>
                <a:spcPct val="125000"/>
              </a:lnSpc>
              <a:spcAft>
                <a:spcPts val="900"/>
              </a:spcAft>
            </a:pPr>
            <a:r>
              <a:rPr sz="1300" b="0">
                <a:solidFill>
                  <a:srgbClr val="5F6D66"/>
                </a:solidFill>
                <a:latin typeface="Instrument Sans"/>
              </a:rPr>
              <a:t>Four abnormal blood panels since May, white cells </a:t>
            </a:r>
            <a:r>
              <a:rPr sz="1150" b="0">
                <a:solidFill>
                  <a:srgbClr val="C2572F"/>
                </a:solidFill>
                <a:latin typeface="JetBrains Mono"/>
              </a:rPr>
              <a:t>2.7 · 1.6 · 1.3 · 2.1 ×10⁹/L</a:t>
            </a:r>
            <a:r>
              <a:rPr sz="1300" b="0">
                <a:solidFill>
                  <a:srgbClr val="5F6D66"/>
                </a:solidFill>
                <a:latin typeface="Instrument Sans"/>
              </a:rPr>
              <a:t> against a range of 4 to 11. </a:t>
            </a:r>
            <a:r>
              <a:rPr sz="1300" b="1">
                <a:solidFill>
                  <a:srgbClr val="14261F"/>
                </a:solidFill>
                <a:latin typeface="Instrument Sans"/>
              </a:rPr>
              <a:t>Each one was filed. Nobody looked at them together.</a:t>
            </a:r>
            <a:r>
              <a:rPr sz="1300" b="0">
                <a:solidFill>
                  <a:srgbClr val="5F6D66"/>
                </a:solidFill>
                <a:latin typeface="Instrument Sans"/>
              </a:rPr>
              <a:t> The only message she ever received was about paperwork.</a:t>
            </a:r>
          </a:p>
          <a:p>
            <a:pPr algn="l">
              <a:lnSpc>
                <a:spcPct val="125000"/>
              </a:lnSpc>
              <a:spcAft>
                <a:spcPts val="900"/>
              </a:spcAft>
            </a:pPr>
            <a:r>
              <a:rPr sz="1300" b="0">
                <a:solidFill>
                  <a:srgbClr val="5F6D66"/>
                </a:solidFill>
                <a:latin typeface="Instrument Sans"/>
              </a:rPr>
              <a:t>Admitted at </a:t>
            </a:r>
            <a:r>
              <a:rPr sz="1300" b="1">
                <a:solidFill>
                  <a:srgbClr val="14261F"/>
                </a:solidFill>
                <a:latin typeface="Instrument Sans"/>
              </a:rPr>
              <a:t>04:20 this morning</a:t>
            </a:r>
            <a:r>
              <a:rPr sz="1300" b="0">
                <a:solidFill>
                  <a:srgbClr val="5F6D66"/>
                </a:solidFill>
                <a:latin typeface="Instrument Sans"/>
              </a:rPr>
              <a:t>. A GP appointment still booked for 08:30.</a:t>
            </a:r>
          </a:p>
          <a:p>
            <a:pPr algn="l">
              <a:lnSpc>
                <a:spcPct val="125000"/>
              </a:lnSpc>
              <a:spcAft>
                <a:spcPts val="900"/>
              </a:spcAft>
            </a:pPr>
            <a:r>
              <a:rPr sz="1300" b="0">
                <a:solidFill>
                  <a:srgbClr val="5F6D66"/>
                </a:solidFill>
                <a:latin typeface="Instrument Sans"/>
              </a:rPr>
              <a:t>Landline only. Her husband could not drive her to her last review. </a:t>
            </a:r>
            <a:r>
              <a:rPr sz="1300" b="1">
                <a:solidFill>
                  <a:srgbClr val="14261F"/>
                </a:solidFill>
                <a:latin typeface="Instrument Sans"/>
              </a:rPr>
              <a:t>Nothing in her record has gone to her family.</a:t>
            </a:r>
          </a:p>
        </p:txBody>
      </p:sp>
      <p:sp>
        <p:nvSpPr>
          <p:cNvPr id="10" name="TextBox 9"/>
          <p:cNvSpPr txBox="1"/>
          <p:nvPr/>
        </p:nvSpPr>
        <p:spPr>
          <a:xfrm>
            <a:off x="6035040" y="4983480"/>
            <a:ext cx="5029200" cy="731520"/>
          </a:xfrm>
          <a:prstGeom prst="rect">
            <a:avLst/>
          </a:prstGeom>
          <a:noFill/>
        </p:spPr>
        <p:txBody>
          <a:bodyPr wrap="square" anchor="t" lIns="0" rIns="0" tIns="0" bIns="0">
            <a:spAutoFit/>
          </a:bodyPr>
          <a:lstStyle/>
          <a:p>
            <a:pPr algn="l">
              <a:lnSpc>
                <a:spcPct val="115000"/>
              </a:lnSpc>
              <a:spcAft>
                <a:spcPts val="0"/>
              </a:spcAft>
            </a:pPr>
            <a:r>
              <a:rPr sz="1700" b="1">
                <a:solidFill>
                  <a:srgbClr val="14261F"/>
                </a:solidFill>
                <a:latin typeface="Bricolage Grotesque"/>
              </a:rPr>
              <a:t>She is the human middleware between her clinicians and her family.</a:t>
            </a:r>
          </a:p>
        </p:txBody>
      </p:sp>
      <p:sp>
        <p:nvSpPr>
          <p:cNvPr id="11" name="TextBox 10"/>
          <p:cNvSpPr txBox="1"/>
          <p:nvPr/>
        </p:nvSpPr>
        <p:spPr>
          <a:xfrm>
            <a:off x="6035040" y="5623560"/>
            <a:ext cx="5029200" cy="640080"/>
          </a:xfrm>
          <a:prstGeom prst="rect">
            <a:avLst/>
          </a:prstGeom>
          <a:noFill/>
        </p:spPr>
        <p:txBody>
          <a:bodyPr wrap="square" anchor="t" lIns="0" rIns="0" tIns="0" bIns="0">
            <a:spAutoFit/>
          </a:bodyPr>
          <a:lstStyle/>
          <a:p>
            <a:pPr algn="l">
              <a:lnSpc>
                <a:spcPct val="115000"/>
              </a:lnSpc>
              <a:spcAft>
                <a:spcPts val="0"/>
              </a:spcAft>
            </a:pPr>
            <a:r>
              <a:rPr sz="1300" b="1">
                <a:solidFill>
                  <a:srgbClr val="6D2E5B"/>
                </a:solidFill>
                <a:latin typeface="Bricolage Grotesque"/>
              </a:rPr>
              <a:t>“I want to know what that is. I want to know what’s going on. I want to be aware.”</a:t>
            </a:r>
          </a:p>
        </p:txBody>
      </p:sp>
      <p:sp>
        <p:nvSpPr>
          <p:cNvPr id="12" name="TextBox 11"/>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13" name="TextBox 12"/>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This is not one patient.</a:t>
            </a:r>
          </a:p>
        </p:txBody>
      </p:sp>
      <p:cxnSp>
        <p:nvCxnSpPr>
          <p:cNvPr id="4" name="Connector 3"/>
          <p:cNvCxnSpPr/>
          <p:nvPr/>
        </p:nvCxnSpPr>
        <p:spPr>
          <a:xfrm>
            <a:off x="731520" y="178308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89280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47</a:t>
            </a:r>
            <a:r>
              <a:rPr sz="1800" b="1">
                <a:solidFill>
                  <a:srgbClr val="5F6D66"/>
                </a:solidFill>
                <a:latin typeface="Bricolage Grotesque"/>
              </a:rPr>
              <a:t> %</a:t>
            </a:r>
          </a:p>
        </p:txBody>
      </p:sp>
      <p:sp>
        <p:nvSpPr>
          <p:cNvPr id="6" name="TextBox 5"/>
          <p:cNvSpPr txBox="1"/>
          <p:nvPr/>
        </p:nvSpPr>
        <p:spPr>
          <a:xfrm>
            <a:off x="3840480" y="194767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of blood results have </a:t>
            </a:r>
            <a:r>
              <a:rPr sz="1450" b="1">
                <a:solidFill>
                  <a:srgbClr val="14261F"/>
                </a:solidFill>
                <a:latin typeface="Instrument Sans"/>
              </a:rPr>
              <a:t>no record of being communicated</a:t>
            </a:r>
            <a:r>
              <a:rPr sz="1450" b="0">
                <a:solidFill>
                  <a:srgbClr val="5F6D66"/>
                </a:solidFill>
                <a:latin typeface="Instrument Sans"/>
              </a:rPr>
              <a:t> to the patient. 31% for abnormal results.</a:t>
            </a:r>
          </a:p>
        </p:txBody>
      </p:sp>
      <p:sp>
        <p:nvSpPr>
          <p:cNvPr id="7" name="TextBox 6"/>
          <p:cNvSpPr txBox="1"/>
          <p:nvPr/>
        </p:nvSpPr>
        <p:spPr>
          <a:xfrm>
            <a:off x="3840480" y="2551176"/>
            <a:ext cx="7589520" cy="32004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PACT audit, 2,572 patients, 57 practices</a:t>
            </a:r>
          </a:p>
        </p:txBody>
      </p:sp>
      <p:cxnSp>
        <p:nvCxnSpPr>
          <p:cNvPr id="8" name="Connector 7"/>
          <p:cNvCxnSpPr/>
          <p:nvPr/>
        </p:nvCxnSpPr>
        <p:spPr>
          <a:xfrm>
            <a:off x="731520" y="288036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299008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5.6</a:t>
            </a:r>
            <a:r>
              <a:rPr sz="1800" b="1">
                <a:solidFill>
                  <a:srgbClr val="5F6D66"/>
                </a:solidFill>
                <a:latin typeface="Bricolage Grotesque"/>
              </a:rPr>
              <a:t> m</a:t>
            </a:r>
          </a:p>
        </p:txBody>
      </p:sp>
      <p:sp>
        <p:nvSpPr>
          <p:cNvPr id="10" name="TextBox 9"/>
          <p:cNvSpPr txBox="1"/>
          <p:nvPr/>
        </p:nvSpPr>
        <p:spPr>
          <a:xfrm>
            <a:off x="3840480" y="304495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results a month, around </a:t>
            </a:r>
            <a:r>
              <a:rPr sz="1450" b="1">
                <a:solidFill>
                  <a:srgbClr val="14261F"/>
                </a:solidFill>
                <a:latin typeface="Instrument Sans"/>
              </a:rPr>
              <a:t>68m a year</a:t>
            </a:r>
            <a:r>
              <a:rPr sz="1450" b="0">
                <a:solidFill>
                  <a:srgbClr val="5F6D66"/>
                </a:solidFill>
                <a:latin typeface="Instrument Sans"/>
              </a:rPr>
              <a:t>, with no evidence the patient was told.</a:t>
            </a:r>
          </a:p>
        </p:txBody>
      </p:sp>
      <p:sp>
        <p:nvSpPr>
          <p:cNvPr id="11" name="TextBox 10"/>
          <p:cNvSpPr txBox="1"/>
          <p:nvPr/>
        </p:nvSpPr>
        <p:spPr>
          <a:xfrm>
            <a:off x="3840480" y="3648456"/>
            <a:ext cx="7589520"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50" b="0">
                <a:solidFill>
                  <a:srgbClr val="5F6D66"/>
                </a:solidFill>
                <a:latin typeface="Instrument Sans"/>
              </a:rPr>
              <a:t>12m NHS App result views a month at 47%</a:t>
            </a:r>
          </a:p>
        </p:txBody>
      </p:sp>
      <p:cxnSp>
        <p:nvCxnSpPr>
          <p:cNvPr id="12" name="Connector 11"/>
          <p:cNvCxnSpPr/>
          <p:nvPr/>
        </p:nvCxnSpPr>
        <p:spPr>
          <a:xfrm>
            <a:off x="731520" y="397764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408736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35,000</a:t>
            </a:r>
            <a:r>
              <a:rPr sz="1800" b="1">
                <a:solidFill>
                  <a:srgbClr val="5F6D66"/>
                </a:solidFill>
                <a:latin typeface="Bricolage Grotesque"/>
              </a:rPr>
              <a:t/>
            </a:r>
          </a:p>
        </p:txBody>
      </p:sp>
      <p:sp>
        <p:nvSpPr>
          <p:cNvPr id="14" name="TextBox 13"/>
          <p:cNvSpPr txBox="1"/>
          <p:nvPr/>
        </p:nvSpPr>
        <p:spPr>
          <a:xfrm>
            <a:off x="3840480" y="4142232"/>
            <a:ext cx="7589520" cy="548640"/>
          </a:xfrm>
          <a:prstGeom prst="rect">
            <a:avLst/>
          </a:prstGeom>
          <a:noFill/>
        </p:spPr>
        <p:txBody>
          <a:bodyPr wrap="square" anchor="t" lIns="0" rIns="0" tIns="0" bIns="0">
            <a:spAutoFit/>
          </a:bodyPr>
          <a:lstStyle/>
          <a:p>
            <a:pPr algn="l">
              <a:lnSpc>
                <a:spcPct val="120000"/>
              </a:lnSpc>
              <a:spcAft>
                <a:spcPts val="0"/>
              </a:spcAft>
            </a:pPr>
            <a:r>
              <a:rPr sz="1450" b="1">
                <a:solidFill>
                  <a:srgbClr val="14261F"/>
                </a:solidFill>
                <a:latin typeface="Instrument Sans"/>
              </a:rPr>
              <a:t>GP-hours every working day</a:t>
            </a:r>
            <a:r>
              <a:rPr sz="1450" b="0">
                <a:solidFill>
                  <a:srgbClr val="5F6D66"/>
                </a:solidFill>
                <a:latin typeface="Instrument Sans"/>
              </a:rPr>
              <a:t> spent managing results.</a:t>
            </a:r>
          </a:p>
        </p:txBody>
      </p:sp>
      <p:sp>
        <p:nvSpPr>
          <p:cNvPr id="15" name="TextBox 14"/>
          <p:cNvSpPr txBox="1"/>
          <p:nvPr/>
        </p:nvSpPr>
        <p:spPr>
          <a:xfrm>
            <a:off x="3840480" y="4745736"/>
            <a:ext cx="7589520"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50" b="0">
                <a:solidFill>
                  <a:srgbClr val="5F6D66"/>
                </a:solidFill>
                <a:latin typeface="Instrument Sans"/>
              </a:rPr>
              <a:t>74 minutes a day per doctor across 28,426 FTE GPs in England</a:t>
            </a:r>
          </a:p>
        </p:txBody>
      </p:sp>
      <p:cxnSp>
        <p:nvCxnSpPr>
          <p:cNvPr id="16" name="Connector 15"/>
          <p:cNvCxnSpPr/>
          <p:nvPr/>
        </p:nvCxnSpPr>
        <p:spPr>
          <a:xfrm>
            <a:off x="731520" y="507492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 y="518464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1</a:t>
            </a:r>
            <a:r>
              <a:rPr sz="1800" b="1">
                <a:solidFill>
                  <a:srgbClr val="5F6D66"/>
                </a:solidFill>
                <a:latin typeface="Bricolage Grotesque"/>
              </a:rPr>
              <a:t> reading</a:t>
            </a:r>
          </a:p>
        </p:txBody>
      </p:sp>
      <p:sp>
        <p:nvSpPr>
          <p:cNvPr id="18" name="TextBox 17"/>
          <p:cNvSpPr txBox="1"/>
          <p:nvPr/>
        </p:nvSpPr>
        <p:spPr>
          <a:xfrm>
            <a:off x="3840480" y="523951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is not effective at spotting decline. </a:t>
            </a:r>
            <a:r>
              <a:rPr sz="1450" b="1">
                <a:solidFill>
                  <a:srgbClr val="14261F"/>
                </a:solidFill>
                <a:latin typeface="Instrument Sans"/>
              </a:rPr>
              <a:t>The trajectory is</a:t>
            </a:r>
            <a:r>
              <a:rPr sz="1450" b="0">
                <a:solidFill>
                  <a:srgbClr val="5F6D66"/>
                </a:solidFill>
                <a:latin typeface="Instrument Sans"/>
              </a:rPr>
              <a:t>, and every GP system already holds the data.</a:t>
            </a:r>
          </a:p>
        </p:txBody>
      </p:sp>
      <p:sp>
        <p:nvSpPr>
          <p:cNvPr id="19" name="TextBox 18"/>
          <p:cNvSpPr txBox="1"/>
          <p:nvPr/>
        </p:nvSpPr>
        <p:spPr>
          <a:xfrm>
            <a:off x="3840480" y="5843016"/>
            <a:ext cx="7589520" cy="32004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41 serious incidents in 13 months from uncommunicated results, including a 45 mm lung mass (HSIB 2019). 5 million unpaid carers. 0.4% of portal users have shared access.</a:t>
            </a:r>
          </a:p>
        </p:txBody>
      </p:sp>
      <p:sp>
        <p:nvSpPr>
          <p:cNvPr id="20" name="TextBox 1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Watson (PACT) 2024 · NHS App roadmap Jul 2026 · Poon 2004 · NHS England GP Workforce Jul 2026 · Stow 2018 · HSIB 2019 · Census 2021 · Wolff 2016. Working in the speaker notes.</a:t>
            </a:r>
          </a:p>
        </p:txBody>
      </p:sp>
      <p:sp>
        <p:nvSpPr>
          <p:cNvPr id="21" name="TextBox 2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seen coming</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Results are reviewed one at a time. No one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No reliable “patient informed” state exists in the record, and nothing routes a result to the people who need to act.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understood, locked out</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the number and says ring your GP; only 51% of adults can find the out-of-range value. Proxy access hands a person the whole record after a practice-led setup, and almost nobody has it.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Kindred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Kindred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Kindred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